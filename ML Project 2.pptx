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73" r:id="rId5"/>
  </p:sldMasterIdLst>
  <p:sldIdLst>
    <p:sldId id="256" r:id="rId6"/>
    <p:sldId id="267" r:id="rId7"/>
    <p:sldId id="269" r:id="rId8"/>
    <p:sldId id="271" r:id="rId9"/>
    <p:sldId id="272" r:id="rId10"/>
    <p:sldId id="264" r:id="rId11"/>
    <p:sldId id="275" r:id="rId12"/>
    <p:sldId id="274" r:id="rId13"/>
    <p:sldId id="265" r:id="rId14"/>
    <p:sldId id="266" r:id="rId15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Grandview Display" pitchFamily="0" charset="0"/>
        <a:ea typeface="Grandview Display" pitchFamily="0" charset="0"/>
        <a:cs typeface="Grandview Display" pitchFamily="0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5158395" val="1228" revOS="4"/>
      <pr:smFileRevision xmlns:pr="smNativeData" xmlns="smNativeData" dt="1765158395" val="101"/>
      <pr:guideOptions xmlns:pr="smNativeData" xmlns="smNativeData" dt="1765158395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74" d="100"/>
          <a:sy n="74" d="100"/>
        </p:scale>
        <p:origin x="1184" y="214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5" d="100"/>
        <a:sy n="15" d="100"/>
      </p:scale>
      <p:origin x="0" y="0"/>
    </p:cViewPr>
  </p:sorterViewPr>
  <p:notesViewPr>
    <p:cSldViewPr snapToGrid="0">
      <p:cViewPr>
        <p:scale>
          <a:sx n="74" d="100"/>
          <a:sy n="74" d="100"/>
        </p:scale>
        <p:origin x="1184" y="214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AA197A-C091-4322-B17A-38E748A68BD2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3A3337-6086-4B5E-9231-E7D096798956}">
      <dgm:prSet/>
      <dgm:spPr/>
      <dgm:t>
        <a:bodyPr/>
        <a:lstStyle/>
        <a:p>
          <a:r>
            <a:rPr lang="en-US"/>
            <a:t>99 Little Orange operates a </a:t>
          </a:r>
          <a:r>
            <a:rPr lang="en-US" b="1"/>
            <a:t>two-sided marketplace</a:t>
          </a:r>
          <a:r>
            <a:rPr lang="en-US"/>
            <a:t> connecting </a:t>
          </a:r>
          <a:r>
            <a:rPr lang="en-US" b="1"/>
            <a:t>drivers (supply)</a:t>
          </a:r>
          <a:r>
            <a:rPr lang="en-US"/>
            <a:t> and </a:t>
          </a:r>
          <a:r>
            <a:rPr lang="en-US" b="1"/>
            <a:t>passengers (demand)</a:t>
          </a:r>
          <a:r>
            <a:rPr lang="en-US"/>
            <a:t>.</a:t>
          </a:r>
        </a:p>
      </dgm:t>
    </dgm:pt>
    <dgm:pt modelId="{72EE5E0B-33A4-4D52-ADFE-F0D4D62EB8CD}" type="parTrans" cxnId="{8974D19C-8A70-40BB-8119-8765614EA44D}">
      <dgm:prSet/>
      <dgm:spPr/>
      <dgm:t>
        <a:bodyPr/>
        <a:lstStyle/>
        <a:p>
          <a:endParaRPr lang="en-US"/>
        </a:p>
      </dgm:t>
    </dgm:pt>
    <dgm:pt modelId="{8BEEC553-F54B-4BB5-831A-6DCEB42A600B}" type="sibTrans" cxnId="{8974D19C-8A70-40BB-8119-8765614EA44D}">
      <dgm:prSet/>
      <dgm:spPr/>
      <dgm:t>
        <a:bodyPr/>
        <a:lstStyle/>
        <a:p>
          <a:endParaRPr lang="en-US"/>
        </a:p>
      </dgm:t>
    </dgm:pt>
    <dgm:pt modelId="{79247E62-6D17-4680-A9C2-FC2D6C821C75}">
      <dgm:prSet/>
      <dgm:spPr/>
      <dgm:t>
        <a:bodyPr/>
        <a:lstStyle/>
        <a:p>
          <a:r>
            <a:rPr lang="en-US" dirty="0"/>
            <a:t>The main goal of the business is to keep the marketplace balanced: </a:t>
          </a:r>
        </a:p>
      </dgm:t>
    </dgm:pt>
    <dgm:pt modelId="{15B249B6-5334-499E-8BD0-291C0A801283}" type="parTrans" cxnId="{9D266CC8-5BD3-4264-8BC9-475CD4C67BBD}">
      <dgm:prSet/>
      <dgm:spPr/>
      <dgm:t>
        <a:bodyPr/>
        <a:lstStyle/>
        <a:p>
          <a:endParaRPr lang="en-US"/>
        </a:p>
      </dgm:t>
    </dgm:pt>
    <dgm:pt modelId="{67F593A1-B381-43F5-AAD2-0782F0AC889E}" type="sibTrans" cxnId="{9D266CC8-5BD3-4264-8BC9-475CD4C67BBD}">
      <dgm:prSet/>
      <dgm:spPr/>
      <dgm:t>
        <a:bodyPr/>
        <a:lstStyle/>
        <a:p>
          <a:endParaRPr lang="en-US"/>
        </a:p>
      </dgm:t>
    </dgm:pt>
    <dgm:pt modelId="{00B8BDAD-5984-4022-84D8-05006A64A387}">
      <dgm:prSet/>
      <dgm:spPr/>
      <dgm:t>
        <a:bodyPr/>
        <a:lstStyle/>
        <a:p>
          <a:r>
            <a:rPr lang="en-US" b="1"/>
            <a:t>High demand, low supply →</a:t>
          </a:r>
          <a:r>
            <a:rPr lang="en-US"/>
            <a:t> surge pricing, longer wait times and passenger dissatisfaction.</a:t>
          </a:r>
        </a:p>
      </dgm:t>
    </dgm:pt>
    <dgm:pt modelId="{F62EBFFA-5FE3-4B23-9229-CB8D289C9495}" type="parTrans" cxnId="{01B04CD8-DAC2-43F8-9F5F-D02E23FE553D}">
      <dgm:prSet/>
      <dgm:spPr/>
      <dgm:t>
        <a:bodyPr/>
        <a:lstStyle/>
        <a:p>
          <a:endParaRPr lang="en-US"/>
        </a:p>
      </dgm:t>
    </dgm:pt>
    <dgm:pt modelId="{6178F3EF-6787-4815-B310-F0659185F265}" type="sibTrans" cxnId="{01B04CD8-DAC2-43F8-9F5F-D02E23FE553D}">
      <dgm:prSet/>
      <dgm:spPr/>
      <dgm:t>
        <a:bodyPr/>
        <a:lstStyle/>
        <a:p>
          <a:endParaRPr lang="en-US"/>
        </a:p>
      </dgm:t>
    </dgm:pt>
    <dgm:pt modelId="{4AAA79FD-32D2-4F8D-BA0F-F63B5D33B6F8}">
      <dgm:prSet/>
      <dgm:spPr/>
      <dgm:t>
        <a:bodyPr/>
        <a:lstStyle/>
        <a:p>
          <a:r>
            <a:rPr lang="en-US" b="1"/>
            <a:t>High supply, low demand →</a:t>
          </a:r>
          <a:r>
            <a:rPr lang="en-US"/>
            <a:t> driver idle time and supply drop-off.</a:t>
          </a:r>
        </a:p>
      </dgm:t>
    </dgm:pt>
    <dgm:pt modelId="{3EFC8EE3-97BD-426F-85F7-1868C8C243B1}" type="parTrans" cxnId="{80CB2C2C-3237-47E0-ABAB-B15E75572D93}">
      <dgm:prSet/>
      <dgm:spPr/>
      <dgm:t>
        <a:bodyPr/>
        <a:lstStyle/>
        <a:p>
          <a:endParaRPr lang="en-US"/>
        </a:p>
      </dgm:t>
    </dgm:pt>
    <dgm:pt modelId="{0E8D2FAF-2FD0-4888-A6BC-9830175E0437}" type="sibTrans" cxnId="{80CB2C2C-3237-47E0-ABAB-B15E75572D93}">
      <dgm:prSet/>
      <dgm:spPr/>
      <dgm:t>
        <a:bodyPr/>
        <a:lstStyle/>
        <a:p>
          <a:endParaRPr lang="en-US"/>
        </a:p>
      </dgm:t>
    </dgm:pt>
    <dgm:pt modelId="{E54A6D14-7096-43A6-8D53-C843426FA535}" type="pres">
      <dgm:prSet presAssocID="{0BAA197A-C091-4322-B17A-38E748A68BD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E0072C9-51A2-4FD8-B532-EA48176FFA0A}" type="pres">
      <dgm:prSet presAssocID="{D13A3337-6086-4B5E-9231-E7D096798956}" presName="hierRoot1" presStyleCnt="0">
        <dgm:presLayoutVars>
          <dgm:hierBranch val="init"/>
        </dgm:presLayoutVars>
      </dgm:prSet>
      <dgm:spPr/>
    </dgm:pt>
    <dgm:pt modelId="{EC53182D-6F93-46EF-AACA-FFBAB1B0C89B}" type="pres">
      <dgm:prSet presAssocID="{D13A3337-6086-4B5E-9231-E7D096798956}" presName="rootComposite1" presStyleCnt="0"/>
      <dgm:spPr/>
    </dgm:pt>
    <dgm:pt modelId="{D65D8831-5CC4-4667-AEF3-E423CE778F2A}" type="pres">
      <dgm:prSet presAssocID="{D13A3337-6086-4B5E-9231-E7D096798956}" presName="rootText1" presStyleLbl="node0" presStyleIdx="0" presStyleCnt="2">
        <dgm:presLayoutVars>
          <dgm:chPref val="3"/>
        </dgm:presLayoutVars>
      </dgm:prSet>
      <dgm:spPr/>
    </dgm:pt>
    <dgm:pt modelId="{6715A241-99D0-4930-9A58-C4090261A0D8}" type="pres">
      <dgm:prSet presAssocID="{D13A3337-6086-4B5E-9231-E7D096798956}" presName="rootConnector1" presStyleLbl="node1" presStyleIdx="0" presStyleCnt="0"/>
      <dgm:spPr/>
    </dgm:pt>
    <dgm:pt modelId="{A136FC83-A18A-4CC8-8296-598B203D6715}" type="pres">
      <dgm:prSet presAssocID="{D13A3337-6086-4B5E-9231-E7D096798956}" presName="hierChild2" presStyleCnt="0"/>
      <dgm:spPr/>
    </dgm:pt>
    <dgm:pt modelId="{2AAD3F6F-0815-4BEB-8F94-887CD694A0E1}" type="pres">
      <dgm:prSet presAssocID="{D13A3337-6086-4B5E-9231-E7D096798956}" presName="hierChild3" presStyleCnt="0"/>
      <dgm:spPr/>
    </dgm:pt>
    <dgm:pt modelId="{4E6F2F52-C98E-4574-9020-014525E21039}" type="pres">
      <dgm:prSet presAssocID="{79247E62-6D17-4680-A9C2-FC2D6C821C75}" presName="hierRoot1" presStyleCnt="0">
        <dgm:presLayoutVars>
          <dgm:hierBranch val="init"/>
        </dgm:presLayoutVars>
      </dgm:prSet>
      <dgm:spPr/>
    </dgm:pt>
    <dgm:pt modelId="{7669D4DF-E6F6-4543-AE77-F53D90DA8811}" type="pres">
      <dgm:prSet presAssocID="{79247E62-6D17-4680-A9C2-FC2D6C821C75}" presName="rootComposite1" presStyleCnt="0"/>
      <dgm:spPr/>
    </dgm:pt>
    <dgm:pt modelId="{22E80DA2-5DFC-41C9-9E37-66C1CFD59317}" type="pres">
      <dgm:prSet presAssocID="{79247E62-6D17-4680-A9C2-FC2D6C821C75}" presName="rootText1" presStyleLbl="node0" presStyleIdx="1" presStyleCnt="2">
        <dgm:presLayoutVars>
          <dgm:chPref val="3"/>
        </dgm:presLayoutVars>
      </dgm:prSet>
      <dgm:spPr/>
    </dgm:pt>
    <dgm:pt modelId="{7D62B5F2-62A4-441A-800C-9064EFB28042}" type="pres">
      <dgm:prSet presAssocID="{79247E62-6D17-4680-A9C2-FC2D6C821C75}" presName="rootConnector1" presStyleLbl="node1" presStyleIdx="0" presStyleCnt="0"/>
      <dgm:spPr/>
    </dgm:pt>
    <dgm:pt modelId="{7AF8DA13-E3CE-42EC-8CC1-7F05CA012479}" type="pres">
      <dgm:prSet presAssocID="{79247E62-6D17-4680-A9C2-FC2D6C821C75}" presName="hierChild2" presStyleCnt="0"/>
      <dgm:spPr/>
    </dgm:pt>
    <dgm:pt modelId="{279EE8C2-5C29-482D-B315-CA558AD6FAA6}" type="pres">
      <dgm:prSet presAssocID="{F62EBFFA-5FE3-4B23-9229-CB8D289C9495}" presName="Name64" presStyleLbl="parChTrans1D2" presStyleIdx="0" presStyleCnt="2"/>
      <dgm:spPr/>
    </dgm:pt>
    <dgm:pt modelId="{340E7C7B-872C-4BE6-A6FD-DA2CA1F033C3}" type="pres">
      <dgm:prSet presAssocID="{00B8BDAD-5984-4022-84D8-05006A64A387}" presName="hierRoot2" presStyleCnt="0">
        <dgm:presLayoutVars>
          <dgm:hierBranch val="init"/>
        </dgm:presLayoutVars>
      </dgm:prSet>
      <dgm:spPr/>
    </dgm:pt>
    <dgm:pt modelId="{8EA90A28-91FE-4D92-9F7D-05A6FD3782D1}" type="pres">
      <dgm:prSet presAssocID="{00B8BDAD-5984-4022-84D8-05006A64A387}" presName="rootComposite" presStyleCnt="0"/>
      <dgm:spPr/>
    </dgm:pt>
    <dgm:pt modelId="{9416045D-663D-465A-AF91-DB0F8092DDCE}" type="pres">
      <dgm:prSet presAssocID="{00B8BDAD-5984-4022-84D8-05006A64A387}" presName="rootText" presStyleLbl="node2" presStyleIdx="0" presStyleCnt="2">
        <dgm:presLayoutVars>
          <dgm:chPref val="3"/>
        </dgm:presLayoutVars>
      </dgm:prSet>
      <dgm:spPr/>
    </dgm:pt>
    <dgm:pt modelId="{CE50E736-CD1B-4AF2-A2DE-35BC6FB0745D}" type="pres">
      <dgm:prSet presAssocID="{00B8BDAD-5984-4022-84D8-05006A64A387}" presName="rootConnector" presStyleLbl="node2" presStyleIdx="0" presStyleCnt="2"/>
      <dgm:spPr/>
    </dgm:pt>
    <dgm:pt modelId="{F9BF3085-2A3A-48AB-ACA7-AE05593E3E2F}" type="pres">
      <dgm:prSet presAssocID="{00B8BDAD-5984-4022-84D8-05006A64A387}" presName="hierChild4" presStyleCnt="0"/>
      <dgm:spPr/>
    </dgm:pt>
    <dgm:pt modelId="{D8F61F9F-B530-4F4A-B9E4-F2932B83846F}" type="pres">
      <dgm:prSet presAssocID="{00B8BDAD-5984-4022-84D8-05006A64A387}" presName="hierChild5" presStyleCnt="0"/>
      <dgm:spPr/>
    </dgm:pt>
    <dgm:pt modelId="{5432A720-E42E-4ED1-A29B-FA8D088FEE5D}" type="pres">
      <dgm:prSet presAssocID="{3EFC8EE3-97BD-426F-85F7-1868C8C243B1}" presName="Name64" presStyleLbl="parChTrans1D2" presStyleIdx="1" presStyleCnt="2"/>
      <dgm:spPr/>
    </dgm:pt>
    <dgm:pt modelId="{6A1932FC-5745-4794-8759-5A5A5ABFEBFC}" type="pres">
      <dgm:prSet presAssocID="{4AAA79FD-32D2-4F8D-BA0F-F63B5D33B6F8}" presName="hierRoot2" presStyleCnt="0">
        <dgm:presLayoutVars>
          <dgm:hierBranch val="init"/>
        </dgm:presLayoutVars>
      </dgm:prSet>
      <dgm:spPr/>
    </dgm:pt>
    <dgm:pt modelId="{E3D10028-BDE9-41E3-8749-0D9931E83F53}" type="pres">
      <dgm:prSet presAssocID="{4AAA79FD-32D2-4F8D-BA0F-F63B5D33B6F8}" presName="rootComposite" presStyleCnt="0"/>
      <dgm:spPr/>
    </dgm:pt>
    <dgm:pt modelId="{E1C3C8FE-DB9B-4BA4-9F4D-06B09CC6602C}" type="pres">
      <dgm:prSet presAssocID="{4AAA79FD-32D2-4F8D-BA0F-F63B5D33B6F8}" presName="rootText" presStyleLbl="node2" presStyleIdx="1" presStyleCnt="2">
        <dgm:presLayoutVars>
          <dgm:chPref val="3"/>
        </dgm:presLayoutVars>
      </dgm:prSet>
      <dgm:spPr/>
    </dgm:pt>
    <dgm:pt modelId="{5E6A5A87-15EF-4938-BB10-8BDC1A2507D6}" type="pres">
      <dgm:prSet presAssocID="{4AAA79FD-32D2-4F8D-BA0F-F63B5D33B6F8}" presName="rootConnector" presStyleLbl="node2" presStyleIdx="1" presStyleCnt="2"/>
      <dgm:spPr/>
    </dgm:pt>
    <dgm:pt modelId="{E02D70E3-1DAE-45BE-89BC-B55F213AE07F}" type="pres">
      <dgm:prSet presAssocID="{4AAA79FD-32D2-4F8D-BA0F-F63B5D33B6F8}" presName="hierChild4" presStyleCnt="0"/>
      <dgm:spPr/>
    </dgm:pt>
    <dgm:pt modelId="{DDC5BDAB-1B76-43CB-907A-31C51750DEAD}" type="pres">
      <dgm:prSet presAssocID="{4AAA79FD-32D2-4F8D-BA0F-F63B5D33B6F8}" presName="hierChild5" presStyleCnt="0"/>
      <dgm:spPr/>
    </dgm:pt>
    <dgm:pt modelId="{ABCB335C-0B20-4E39-B9EF-4AF704CAA16D}" type="pres">
      <dgm:prSet presAssocID="{79247E62-6D17-4680-A9C2-FC2D6C821C75}" presName="hierChild3" presStyleCnt="0"/>
      <dgm:spPr/>
    </dgm:pt>
  </dgm:ptLst>
  <dgm:cxnLst>
    <dgm:cxn modelId="{80CB2C2C-3237-47E0-ABAB-B15E75572D93}" srcId="{79247E62-6D17-4680-A9C2-FC2D6C821C75}" destId="{4AAA79FD-32D2-4F8D-BA0F-F63B5D33B6F8}" srcOrd="1" destOrd="0" parTransId="{3EFC8EE3-97BD-426F-85F7-1868C8C243B1}" sibTransId="{0E8D2FAF-2FD0-4888-A6BC-9830175E0437}"/>
    <dgm:cxn modelId="{C4C96134-385E-4FDF-AB58-303658EDF97D}" type="presOf" srcId="{D13A3337-6086-4B5E-9231-E7D096798956}" destId="{6715A241-99D0-4930-9A58-C4090261A0D8}" srcOrd="1" destOrd="0" presId="urn:microsoft.com/office/officeart/2009/3/layout/HorizontalOrganizationChart"/>
    <dgm:cxn modelId="{DF50B466-E9BD-49FD-80C2-780EAD887C06}" type="presOf" srcId="{4AAA79FD-32D2-4F8D-BA0F-F63B5D33B6F8}" destId="{E1C3C8FE-DB9B-4BA4-9F4D-06B09CC6602C}" srcOrd="0" destOrd="0" presId="urn:microsoft.com/office/officeart/2009/3/layout/HorizontalOrganizationChart"/>
    <dgm:cxn modelId="{4517E472-6FE4-47A0-834B-6DBBAD369005}" type="presOf" srcId="{79247E62-6D17-4680-A9C2-FC2D6C821C75}" destId="{7D62B5F2-62A4-441A-800C-9064EFB28042}" srcOrd="1" destOrd="0" presId="urn:microsoft.com/office/officeart/2009/3/layout/HorizontalOrganizationChart"/>
    <dgm:cxn modelId="{1C34C153-4AE0-4FA9-B443-1050775EE58B}" type="presOf" srcId="{4AAA79FD-32D2-4F8D-BA0F-F63B5D33B6F8}" destId="{5E6A5A87-15EF-4938-BB10-8BDC1A2507D6}" srcOrd="1" destOrd="0" presId="urn:microsoft.com/office/officeart/2009/3/layout/HorizontalOrganizationChart"/>
    <dgm:cxn modelId="{8974D19C-8A70-40BB-8119-8765614EA44D}" srcId="{0BAA197A-C091-4322-B17A-38E748A68BD2}" destId="{D13A3337-6086-4B5E-9231-E7D096798956}" srcOrd="0" destOrd="0" parTransId="{72EE5E0B-33A4-4D52-ADFE-F0D4D62EB8CD}" sibTransId="{8BEEC553-F54B-4BB5-831A-6DCEB42A600B}"/>
    <dgm:cxn modelId="{7DA0B4A2-38A8-4AAA-AC91-EF05AEA6E913}" type="presOf" srcId="{00B8BDAD-5984-4022-84D8-05006A64A387}" destId="{9416045D-663D-465A-AF91-DB0F8092DDCE}" srcOrd="0" destOrd="0" presId="urn:microsoft.com/office/officeart/2009/3/layout/HorizontalOrganizationChart"/>
    <dgm:cxn modelId="{9C2CA4AD-83F8-468A-BAAE-A86F75FCE7B4}" type="presOf" srcId="{F62EBFFA-5FE3-4B23-9229-CB8D289C9495}" destId="{279EE8C2-5C29-482D-B315-CA558AD6FAA6}" srcOrd="0" destOrd="0" presId="urn:microsoft.com/office/officeart/2009/3/layout/HorizontalOrganizationChart"/>
    <dgm:cxn modelId="{15B5B9BB-4661-4142-9CCC-B678545EBDAD}" type="presOf" srcId="{0BAA197A-C091-4322-B17A-38E748A68BD2}" destId="{E54A6D14-7096-43A6-8D53-C843426FA535}" srcOrd="0" destOrd="0" presId="urn:microsoft.com/office/officeart/2009/3/layout/HorizontalOrganizationChart"/>
    <dgm:cxn modelId="{B075A2C0-111B-4E6C-B461-9B0AD4D98A2D}" type="presOf" srcId="{79247E62-6D17-4680-A9C2-FC2D6C821C75}" destId="{22E80DA2-5DFC-41C9-9E37-66C1CFD59317}" srcOrd="0" destOrd="0" presId="urn:microsoft.com/office/officeart/2009/3/layout/HorizontalOrganizationChart"/>
    <dgm:cxn modelId="{9D266CC8-5BD3-4264-8BC9-475CD4C67BBD}" srcId="{0BAA197A-C091-4322-B17A-38E748A68BD2}" destId="{79247E62-6D17-4680-A9C2-FC2D6C821C75}" srcOrd="1" destOrd="0" parTransId="{15B249B6-5334-499E-8BD0-291C0A801283}" sibTransId="{67F593A1-B381-43F5-AAD2-0782F0AC889E}"/>
    <dgm:cxn modelId="{FFB276CB-3C22-4223-95F8-469253C08DFF}" type="presOf" srcId="{D13A3337-6086-4B5E-9231-E7D096798956}" destId="{D65D8831-5CC4-4667-AEF3-E423CE778F2A}" srcOrd="0" destOrd="0" presId="urn:microsoft.com/office/officeart/2009/3/layout/HorizontalOrganizationChart"/>
    <dgm:cxn modelId="{01B04CD8-DAC2-43F8-9F5F-D02E23FE553D}" srcId="{79247E62-6D17-4680-A9C2-FC2D6C821C75}" destId="{00B8BDAD-5984-4022-84D8-05006A64A387}" srcOrd="0" destOrd="0" parTransId="{F62EBFFA-5FE3-4B23-9229-CB8D289C9495}" sibTransId="{6178F3EF-6787-4815-B310-F0659185F265}"/>
    <dgm:cxn modelId="{E94615D9-EEDE-4AA1-8591-9E93C0F68C25}" type="presOf" srcId="{00B8BDAD-5984-4022-84D8-05006A64A387}" destId="{CE50E736-CD1B-4AF2-A2DE-35BC6FB0745D}" srcOrd="1" destOrd="0" presId="urn:microsoft.com/office/officeart/2009/3/layout/HorizontalOrganizationChart"/>
    <dgm:cxn modelId="{C77A55EA-DBF1-4DA3-809F-57FB41A752D7}" type="presOf" srcId="{3EFC8EE3-97BD-426F-85F7-1868C8C243B1}" destId="{5432A720-E42E-4ED1-A29B-FA8D088FEE5D}" srcOrd="0" destOrd="0" presId="urn:microsoft.com/office/officeart/2009/3/layout/HorizontalOrganizationChart"/>
    <dgm:cxn modelId="{A5436EAA-E7C0-435A-A406-A6511AA562D2}" type="presParOf" srcId="{E54A6D14-7096-43A6-8D53-C843426FA535}" destId="{4E0072C9-51A2-4FD8-B532-EA48176FFA0A}" srcOrd="0" destOrd="0" presId="urn:microsoft.com/office/officeart/2009/3/layout/HorizontalOrganizationChart"/>
    <dgm:cxn modelId="{2F123E2A-F3F4-41CA-B24A-EFD05986C98A}" type="presParOf" srcId="{4E0072C9-51A2-4FD8-B532-EA48176FFA0A}" destId="{EC53182D-6F93-46EF-AACA-FFBAB1B0C89B}" srcOrd="0" destOrd="0" presId="urn:microsoft.com/office/officeart/2009/3/layout/HorizontalOrganizationChart"/>
    <dgm:cxn modelId="{4EDA1B87-3A46-4B1C-8765-589EFC40B7DA}" type="presParOf" srcId="{EC53182D-6F93-46EF-AACA-FFBAB1B0C89B}" destId="{D65D8831-5CC4-4667-AEF3-E423CE778F2A}" srcOrd="0" destOrd="0" presId="urn:microsoft.com/office/officeart/2009/3/layout/HorizontalOrganizationChart"/>
    <dgm:cxn modelId="{1FE0F48A-AED5-420D-BB36-7852FDA110FA}" type="presParOf" srcId="{EC53182D-6F93-46EF-AACA-FFBAB1B0C89B}" destId="{6715A241-99D0-4930-9A58-C4090261A0D8}" srcOrd="1" destOrd="0" presId="urn:microsoft.com/office/officeart/2009/3/layout/HorizontalOrganizationChart"/>
    <dgm:cxn modelId="{9DCF59E6-9F1E-444C-BB0A-D4A84F4CC6C5}" type="presParOf" srcId="{4E0072C9-51A2-4FD8-B532-EA48176FFA0A}" destId="{A136FC83-A18A-4CC8-8296-598B203D6715}" srcOrd="1" destOrd="0" presId="urn:microsoft.com/office/officeart/2009/3/layout/HorizontalOrganizationChart"/>
    <dgm:cxn modelId="{EFF82DE1-E7D4-4F3E-A648-C92AEDC1E3FC}" type="presParOf" srcId="{4E0072C9-51A2-4FD8-B532-EA48176FFA0A}" destId="{2AAD3F6F-0815-4BEB-8F94-887CD694A0E1}" srcOrd="2" destOrd="0" presId="urn:microsoft.com/office/officeart/2009/3/layout/HorizontalOrganizationChart"/>
    <dgm:cxn modelId="{D6B12DFA-336C-43AA-A40C-AAD1EAADFC60}" type="presParOf" srcId="{E54A6D14-7096-43A6-8D53-C843426FA535}" destId="{4E6F2F52-C98E-4574-9020-014525E21039}" srcOrd="1" destOrd="0" presId="urn:microsoft.com/office/officeart/2009/3/layout/HorizontalOrganizationChart"/>
    <dgm:cxn modelId="{4D17C570-1150-4553-AEDF-F02061C32E80}" type="presParOf" srcId="{4E6F2F52-C98E-4574-9020-014525E21039}" destId="{7669D4DF-E6F6-4543-AE77-F53D90DA8811}" srcOrd="0" destOrd="0" presId="urn:microsoft.com/office/officeart/2009/3/layout/HorizontalOrganizationChart"/>
    <dgm:cxn modelId="{0C3DCDD5-14EA-409B-A352-6FFB4116F6D5}" type="presParOf" srcId="{7669D4DF-E6F6-4543-AE77-F53D90DA8811}" destId="{22E80DA2-5DFC-41C9-9E37-66C1CFD59317}" srcOrd="0" destOrd="0" presId="urn:microsoft.com/office/officeart/2009/3/layout/HorizontalOrganizationChart"/>
    <dgm:cxn modelId="{BC90678F-0A21-4243-96AF-02DE7AC2A084}" type="presParOf" srcId="{7669D4DF-E6F6-4543-AE77-F53D90DA8811}" destId="{7D62B5F2-62A4-441A-800C-9064EFB28042}" srcOrd="1" destOrd="0" presId="urn:microsoft.com/office/officeart/2009/3/layout/HorizontalOrganizationChart"/>
    <dgm:cxn modelId="{52C2165F-40C8-4703-AF2B-E991C5E9D2E1}" type="presParOf" srcId="{4E6F2F52-C98E-4574-9020-014525E21039}" destId="{7AF8DA13-E3CE-42EC-8CC1-7F05CA012479}" srcOrd="1" destOrd="0" presId="urn:microsoft.com/office/officeart/2009/3/layout/HorizontalOrganizationChart"/>
    <dgm:cxn modelId="{F18F3713-31CE-44F5-BBB1-920CF913CCCD}" type="presParOf" srcId="{7AF8DA13-E3CE-42EC-8CC1-7F05CA012479}" destId="{279EE8C2-5C29-482D-B315-CA558AD6FAA6}" srcOrd="0" destOrd="0" presId="urn:microsoft.com/office/officeart/2009/3/layout/HorizontalOrganizationChart"/>
    <dgm:cxn modelId="{1ED5B5DD-2F40-467C-A744-82E6632BF079}" type="presParOf" srcId="{7AF8DA13-E3CE-42EC-8CC1-7F05CA012479}" destId="{340E7C7B-872C-4BE6-A6FD-DA2CA1F033C3}" srcOrd="1" destOrd="0" presId="urn:microsoft.com/office/officeart/2009/3/layout/HorizontalOrganizationChart"/>
    <dgm:cxn modelId="{03663C72-0CC1-4FE9-8D6C-61706C457ECB}" type="presParOf" srcId="{340E7C7B-872C-4BE6-A6FD-DA2CA1F033C3}" destId="{8EA90A28-91FE-4D92-9F7D-05A6FD3782D1}" srcOrd="0" destOrd="0" presId="urn:microsoft.com/office/officeart/2009/3/layout/HorizontalOrganizationChart"/>
    <dgm:cxn modelId="{A4BDAB89-5AB8-43B2-A723-38EA6635ACCE}" type="presParOf" srcId="{8EA90A28-91FE-4D92-9F7D-05A6FD3782D1}" destId="{9416045D-663D-465A-AF91-DB0F8092DDCE}" srcOrd="0" destOrd="0" presId="urn:microsoft.com/office/officeart/2009/3/layout/HorizontalOrganizationChart"/>
    <dgm:cxn modelId="{1B122116-1770-401B-A49F-F5930676F6D2}" type="presParOf" srcId="{8EA90A28-91FE-4D92-9F7D-05A6FD3782D1}" destId="{CE50E736-CD1B-4AF2-A2DE-35BC6FB0745D}" srcOrd="1" destOrd="0" presId="urn:microsoft.com/office/officeart/2009/3/layout/HorizontalOrganizationChart"/>
    <dgm:cxn modelId="{D659B63A-6129-4D81-B428-80AF186A4DD8}" type="presParOf" srcId="{340E7C7B-872C-4BE6-A6FD-DA2CA1F033C3}" destId="{F9BF3085-2A3A-48AB-ACA7-AE05593E3E2F}" srcOrd="1" destOrd="0" presId="urn:microsoft.com/office/officeart/2009/3/layout/HorizontalOrganizationChart"/>
    <dgm:cxn modelId="{07A69555-B5E9-4591-BE38-558C73F27B10}" type="presParOf" srcId="{340E7C7B-872C-4BE6-A6FD-DA2CA1F033C3}" destId="{D8F61F9F-B530-4F4A-B9E4-F2932B83846F}" srcOrd="2" destOrd="0" presId="urn:microsoft.com/office/officeart/2009/3/layout/HorizontalOrganizationChart"/>
    <dgm:cxn modelId="{DBA05EC4-36C3-4BC6-AA0C-398ECE54575B}" type="presParOf" srcId="{7AF8DA13-E3CE-42EC-8CC1-7F05CA012479}" destId="{5432A720-E42E-4ED1-A29B-FA8D088FEE5D}" srcOrd="2" destOrd="0" presId="urn:microsoft.com/office/officeart/2009/3/layout/HorizontalOrganizationChart"/>
    <dgm:cxn modelId="{E8C070AE-B261-430F-9AFD-08C15D128F54}" type="presParOf" srcId="{7AF8DA13-E3CE-42EC-8CC1-7F05CA012479}" destId="{6A1932FC-5745-4794-8759-5A5A5ABFEBFC}" srcOrd="3" destOrd="0" presId="urn:microsoft.com/office/officeart/2009/3/layout/HorizontalOrganizationChart"/>
    <dgm:cxn modelId="{07463986-E1C4-4B7F-9B6B-386E2054D8C1}" type="presParOf" srcId="{6A1932FC-5745-4794-8759-5A5A5ABFEBFC}" destId="{E3D10028-BDE9-41E3-8749-0D9931E83F53}" srcOrd="0" destOrd="0" presId="urn:microsoft.com/office/officeart/2009/3/layout/HorizontalOrganizationChart"/>
    <dgm:cxn modelId="{A143E121-9E3D-4B50-9EBB-DB91AADF1642}" type="presParOf" srcId="{E3D10028-BDE9-41E3-8749-0D9931E83F53}" destId="{E1C3C8FE-DB9B-4BA4-9F4D-06B09CC6602C}" srcOrd="0" destOrd="0" presId="urn:microsoft.com/office/officeart/2009/3/layout/HorizontalOrganizationChart"/>
    <dgm:cxn modelId="{81506CA7-504A-4448-B3D8-9A42BC9BAE0F}" type="presParOf" srcId="{E3D10028-BDE9-41E3-8749-0D9931E83F53}" destId="{5E6A5A87-15EF-4938-BB10-8BDC1A2507D6}" srcOrd="1" destOrd="0" presId="urn:microsoft.com/office/officeart/2009/3/layout/HorizontalOrganizationChart"/>
    <dgm:cxn modelId="{4DDD803B-B8AE-4AB5-B09F-6573FCC6CEB2}" type="presParOf" srcId="{6A1932FC-5745-4794-8759-5A5A5ABFEBFC}" destId="{E02D70E3-1DAE-45BE-89BC-B55F213AE07F}" srcOrd="1" destOrd="0" presId="urn:microsoft.com/office/officeart/2009/3/layout/HorizontalOrganizationChart"/>
    <dgm:cxn modelId="{199E70A6-F5C0-43FF-884F-B03032A1C2BA}" type="presParOf" srcId="{6A1932FC-5745-4794-8759-5A5A5ABFEBFC}" destId="{DDC5BDAB-1B76-43CB-907A-31C51750DEAD}" srcOrd="2" destOrd="0" presId="urn:microsoft.com/office/officeart/2009/3/layout/HorizontalOrganizationChart"/>
    <dgm:cxn modelId="{98DF585D-0C9C-4409-9672-348EEF33E3EC}" type="presParOf" srcId="{4E6F2F52-C98E-4574-9020-014525E21039}" destId="{ABCB335C-0B20-4E39-B9EF-4AF704CAA16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0BB619-EEA9-49F8-BF7A-CFF1B3DA9274}" type="doc">
      <dgm:prSet loTypeId="urn:microsoft.com/office/officeart/2005/8/layout/vList5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86992AB-7107-4CF7-9C4F-1C075C2D906D}">
      <dgm:prSet/>
      <dgm:spPr/>
      <dgm:t>
        <a:bodyPr/>
        <a:lstStyle/>
        <a:p>
          <a:pPr>
            <a:defRPr b="1"/>
          </a:pPr>
          <a:r>
            <a:rPr lang="en-US" b="1"/>
            <a:t>Casual Customers</a:t>
          </a:r>
          <a:r>
            <a:rPr lang="en-US"/>
            <a:t> (≈194k users)</a:t>
          </a:r>
        </a:p>
      </dgm:t>
    </dgm:pt>
    <dgm:pt modelId="{6F7785AF-110C-4E4E-8173-63418D916E16}" type="parTrans" cxnId="{82EA70E3-4423-496B-9822-C69E5FDF4483}">
      <dgm:prSet/>
      <dgm:spPr/>
      <dgm:t>
        <a:bodyPr/>
        <a:lstStyle/>
        <a:p>
          <a:endParaRPr lang="en-US"/>
        </a:p>
      </dgm:t>
    </dgm:pt>
    <dgm:pt modelId="{9E97E8F2-7592-4419-B4E4-B7529F20EB54}" type="sibTrans" cxnId="{82EA70E3-4423-496B-9822-C69E5FDF4483}">
      <dgm:prSet/>
      <dgm:spPr/>
      <dgm:t>
        <a:bodyPr/>
        <a:lstStyle/>
        <a:p>
          <a:endParaRPr lang="en-US"/>
        </a:p>
      </dgm:t>
    </dgm:pt>
    <dgm:pt modelId="{18FB6257-65DE-4056-B45F-5264230181D2}">
      <dgm:prSet/>
      <dgm:spPr/>
      <dgm:t>
        <a:bodyPr/>
        <a:lstStyle/>
        <a:p>
          <a:r>
            <a:rPr lang="en-US"/>
            <a:t>Very low trip frequency</a:t>
          </a:r>
        </a:p>
      </dgm:t>
    </dgm:pt>
    <dgm:pt modelId="{29D83661-39D4-4636-83B3-9CBDD68CC318}" type="parTrans" cxnId="{6CA07418-0B63-4B29-94B0-A6AE90A06AE7}">
      <dgm:prSet/>
      <dgm:spPr/>
      <dgm:t>
        <a:bodyPr/>
        <a:lstStyle/>
        <a:p>
          <a:endParaRPr lang="en-US"/>
        </a:p>
      </dgm:t>
    </dgm:pt>
    <dgm:pt modelId="{7C019340-0D46-48AC-81C3-3CDC4AB0F0A1}" type="sibTrans" cxnId="{6CA07418-0B63-4B29-94B0-A6AE90A06AE7}">
      <dgm:prSet/>
      <dgm:spPr/>
      <dgm:t>
        <a:bodyPr/>
        <a:lstStyle/>
        <a:p>
          <a:endParaRPr lang="en-US"/>
        </a:p>
      </dgm:t>
    </dgm:pt>
    <dgm:pt modelId="{5FD40412-C7D2-4869-A27E-10DA1E08D201}">
      <dgm:prSet/>
      <dgm:spPr/>
      <dgm:t>
        <a:bodyPr/>
        <a:lstStyle/>
        <a:p>
          <a:r>
            <a:rPr lang="en-US"/>
            <a:t>Lowest spending and shortest lifetime</a:t>
          </a:r>
        </a:p>
      </dgm:t>
    </dgm:pt>
    <dgm:pt modelId="{B3F5EC68-EEEB-4CA8-817D-3ACA15EA81A8}" type="parTrans" cxnId="{B3E3F361-B7E4-4136-9ED7-487DDBA9A0C1}">
      <dgm:prSet/>
      <dgm:spPr/>
      <dgm:t>
        <a:bodyPr/>
        <a:lstStyle/>
        <a:p>
          <a:endParaRPr lang="en-US"/>
        </a:p>
      </dgm:t>
    </dgm:pt>
    <dgm:pt modelId="{698A8E97-26B2-4AE4-AFCC-D0A2F7B7228A}" type="sibTrans" cxnId="{B3E3F361-B7E4-4136-9ED7-487DDBA9A0C1}">
      <dgm:prSet/>
      <dgm:spPr/>
      <dgm:t>
        <a:bodyPr/>
        <a:lstStyle/>
        <a:p>
          <a:endParaRPr lang="en-US"/>
        </a:p>
      </dgm:t>
    </dgm:pt>
    <dgm:pt modelId="{48EC5D2D-4689-4BCA-A051-A8B69EC67C04}">
      <dgm:prSet/>
      <dgm:spPr/>
      <dgm:t>
        <a:bodyPr/>
        <a:lstStyle/>
        <a:p>
          <a:r>
            <a:rPr lang="en-US"/>
            <a:t>These users naturally churn and are not critical for long-term retention.</a:t>
          </a:r>
        </a:p>
      </dgm:t>
    </dgm:pt>
    <dgm:pt modelId="{B27473A2-AA68-4BC3-AB07-84E17F59B7B8}" type="parTrans" cxnId="{F15B92DA-DC50-4EB1-A9F2-97F677F8C14F}">
      <dgm:prSet/>
      <dgm:spPr/>
      <dgm:t>
        <a:bodyPr/>
        <a:lstStyle/>
        <a:p>
          <a:endParaRPr lang="en-US"/>
        </a:p>
      </dgm:t>
    </dgm:pt>
    <dgm:pt modelId="{0972490F-B215-471E-A4D6-17BC7424069B}" type="sibTrans" cxnId="{F15B92DA-DC50-4EB1-A9F2-97F677F8C14F}">
      <dgm:prSet/>
      <dgm:spPr/>
      <dgm:t>
        <a:bodyPr/>
        <a:lstStyle/>
        <a:p>
          <a:endParaRPr lang="en-US"/>
        </a:p>
      </dgm:t>
    </dgm:pt>
    <dgm:pt modelId="{4D7705BC-8B99-4CE2-A7FA-5C5DC60CC0D5}">
      <dgm:prSet/>
      <dgm:spPr/>
      <dgm:t>
        <a:bodyPr/>
        <a:lstStyle/>
        <a:p>
          <a:pPr>
            <a:defRPr b="1"/>
          </a:pPr>
          <a:r>
            <a:rPr lang="en-US" b="1"/>
            <a:t>Moderate-Usage Customers</a:t>
          </a:r>
          <a:r>
            <a:rPr lang="en-US"/>
            <a:t> (≈891 users)</a:t>
          </a:r>
        </a:p>
      </dgm:t>
    </dgm:pt>
    <dgm:pt modelId="{C0A9AAC3-2342-4116-B038-27C93FFF9D1B}" type="parTrans" cxnId="{F7F61FDA-2449-44FD-8F99-69295AE74910}">
      <dgm:prSet/>
      <dgm:spPr/>
      <dgm:t>
        <a:bodyPr/>
        <a:lstStyle/>
        <a:p>
          <a:endParaRPr lang="en-US"/>
        </a:p>
      </dgm:t>
    </dgm:pt>
    <dgm:pt modelId="{A16F1E31-8AA8-4B85-849C-3BB984A38842}" type="sibTrans" cxnId="{F7F61FDA-2449-44FD-8F99-69295AE74910}">
      <dgm:prSet/>
      <dgm:spPr/>
      <dgm:t>
        <a:bodyPr/>
        <a:lstStyle/>
        <a:p>
          <a:endParaRPr lang="en-US"/>
        </a:p>
      </dgm:t>
    </dgm:pt>
    <dgm:pt modelId="{28B53D25-DCD0-4A30-8AA6-F875936D81C8}">
      <dgm:prSet/>
      <dgm:spPr/>
      <dgm:t>
        <a:bodyPr/>
        <a:lstStyle/>
        <a:p>
          <a:r>
            <a:rPr lang="en-US"/>
            <a:t>Highest lifetime (~306 days)</a:t>
          </a:r>
        </a:p>
      </dgm:t>
    </dgm:pt>
    <dgm:pt modelId="{04163EAC-E1B2-46E4-BEFD-D99F71A9F155}" type="parTrans" cxnId="{D8F02971-0883-41CD-9689-6E4EF96D471E}">
      <dgm:prSet/>
      <dgm:spPr/>
      <dgm:t>
        <a:bodyPr/>
        <a:lstStyle/>
        <a:p>
          <a:endParaRPr lang="en-US"/>
        </a:p>
      </dgm:t>
    </dgm:pt>
    <dgm:pt modelId="{17E69196-ADE9-4C7F-9338-F49FCF57BA65}" type="sibTrans" cxnId="{D8F02971-0883-41CD-9689-6E4EF96D471E}">
      <dgm:prSet/>
      <dgm:spPr/>
      <dgm:t>
        <a:bodyPr/>
        <a:lstStyle/>
        <a:p>
          <a:endParaRPr lang="en-US"/>
        </a:p>
      </dgm:t>
    </dgm:pt>
    <dgm:pt modelId="{0B36D7B1-2201-46FC-9974-38A56674424A}">
      <dgm:prSet/>
      <dgm:spPr/>
      <dgm:t>
        <a:bodyPr/>
        <a:lstStyle/>
        <a:p>
          <a:r>
            <a:rPr lang="en-US"/>
            <a:t>Travel across more cities on average</a:t>
          </a:r>
        </a:p>
      </dgm:t>
    </dgm:pt>
    <dgm:pt modelId="{33033071-72BB-49A4-A81F-D031DD89F3EA}" type="parTrans" cxnId="{8CC3F228-D3D8-450A-BFE4-844E48D01DCF}">
      <dgm:prSet/>
      <dgm:spPr/>
      <dgm:t>
        <a:bodyPr/>
        <a:lstStyle/>
        <a:p>
          <a:endParaRPr lang="en-US"/>
        </a:p>
      </dgm:t>
    </dgm:pt>
    <dgm:pt modelId="{98064396-83E3-4558-98C3-1C29C2FE5968}" type="sibTrans" cxnId="{8CC3F228-D3D8-450A-BFE4-844E48D01DCF}">
      <dgm:prSet/>
      <dgm:spPr/>
      <dgm:t>
        <a:bodyPr/>
        <a:lstStyle/>
        <a:p>
          <a:endParaRPr lang="en-US"/>
        </a:p>
      </dgm:t>
    </dgm:pt>
    <dgm:pt modelId="{DE151D24-5C25-4EF6-9AE1-B677D90EE2EB}">
      <dgm:prSet/>
      <dgm:spPr/>
      <dgm:t>
        <a:bodyPr/>
        <a:lstStyle/>
        <a:p>
          <a:r>
            <a:rPr lang="en-US"/>
            <a:t>Healthy weekly activity and strong overall engagement</a:t>
          </a:r>
        </a:p>
      </dgm:t>
    </dgm:pt>
    <dgm:pt modelId="{E8B75763-BF02-49AF-A12F-9E5C91E11534}" type="parTrans" cxnId="{FBA2EDF1-1199-45CF-8F44-29F7A2CD851D}">
      <dgm:prSet/>
      <dgm:spPr/>
      <dgm:t>
        <a:bodyPr/>
        <a:lstStyle/>
        <a:p>
          <a:endParaRPr lang="en-US"/>
        </a:p>
      </dgm:t>
    </dgm:pt>
    <dgm:pt modelId="{0D001CB1-65F4-4E35-8252-F437C43386B1}" type="sibTrans" cxnId="{FBA2EDF1-1199-45CF-8F44-29F7A2CD851D}">
      <dgm:prSet/>
      <dgm:spPr/>
      <dgm:t>
        <a:bodyPr/>
        <a:lstStyle/>
        <a:p>
          <a:endParaRPr lang="en-US"/>
        </a:p>
      </dgm:t>
    </dgm:pt>
    <dgm:pt modelId="{8F3FBE0A-611F-4E72-8650-8CB09542249C}">
      <dgm:prSet/>
      <dgm:spPr/>
      <dgm:t>
        <a:bodyPr/>
        <a:lstStyle/>
        <a:p>
          <a:r>
            <a:rPr lang="en-US"/>
            <a:t>This group gives us the most stability.</a:t>
          </a:r>
        </a:p>
      </dgm:t>
    </dgm:pt>
    <dgm:pt modelId="{19C5BB9F-371E-4C38-8B4F-507962B715B5}" type="parTrans" cxnId="{7C0D2222-8E8E-48AF-A01A-E18B433ECD38}">
      <dgm:prSet/>
      <dgm:spPr/>
      <dgm:t>
        <a:bodyPr/>
        <a:lstStyle/>
        <a:p>
          <a:endParaRPr lang="en-US"/>
        </a:p>
      </dgm:t>
    </dgm:pt>
    <dgm:pt modelId="{E2A9703A-E5E5-46E5-A198-3ECFDA7A78CA}" type="sibTrans" cxnId="{7C0D2222-8E8E-48AF-A01A-E18B433ECD38}">
      <dgm:prSet/>
      <dgm:spPr/>
      <dgm:t>
        <a:bodyPr/>
        <a:lstStyle/>
        <a:p>
          <a:endParaRPr lang="en-US"/>
        </a:p>
      </dgm:t>
    </dgm:pt>
    <dgm:pt modelId="{9DF6BD25-2817-4488-8247-2C8233D2D6E3}">
      <dgm:prSet/>
      <dgm:spPr/>
      <dgm:t>
        <a:bodyPr/>
        <a:lstStyle/>
        <a:p>
          <a:pPr>
            <a:defRPr b="1"/>
          </a:pPr>
          <a:r>
            <a:rPr lang="en-US" b="1"/>
            <a:t>High-Usage Customers</a:t>
          </a:r>
          <a:r>
            <a:rPr lang="en-US"/>
            <a:t> (≈39k users)</a:t>
          </a:r>
        </a:p>
      </dgm:t>
    </dgm:pt>
    <dgm:pt modelId="{DBEC5E6A-F702-4ADC-A12B-153844C492EC}" type="parTrans" cxnId="{845F58C9-1529-4F17-AC6F-E50DD3C13804}">
      <dgm:prSet/>
      <dgm:spPr/>
      <dgm:t>
        <a:bodyPr/>
        <a:lstStyle/>
        <a:p>
          <a:endParaRPr lang="en-US"/>
        </a:p>
      </dgm:t>
    </dgm:pt>
    <dgm:pt modelId="{2D2244B6-1FEF-4E75-B1E7-69BA784F73BF}" type="sibTrans" cxnId="{845F58C9-1529-4F17-AC6F-E50DD3C13804}">
      <dgm:prSet/>
      <dgm:spPr/>
      <dgm:t>
        <a:bodyPr/>
        <a:lstStyle/>
        <a:p>
          <a:endParaRPr lang="en-US"/>
        </a:p>
      </dgm:t>
    </dgm:pt>
    <dgm:pt modelId="{686E1504-A315-4687-9E2D-8B551B677D47}">
      <dgm:prSet/>
      <dgm:spPr/>
      <dgm:t>
        <a:bodyPr/>
        <a:lstStyle/>
        <a:p>
          <a:r>
            <a:rPr lang="en-US"/>
            <a:t>High spending and strong trip frequency</a:t>
          </a:r>
        </a:p>
      </dgm:t>
    </dgm:pt>
    <dgm:pt modelId="{3504B58A-8F4D-4832-AE6A-7587FBFB0D33}" type="parTrans" cxnId="{5A856075-2F48-4CFD-B263-B4ECAA471E4B}">
      <dgm:prSet/>
      <dgm:spPr/>
      <dgm:t>
        <a:bodyPr/>
        <a:lstStyle/>
        <a:p>
          <a:endParaRPr lang="en-US"/>
        </a:p>
      </dgm:t>
    </dgm:pt>
    <dgm:pt modelId="{265C4F54-4A70-4A55-AB75-126EBAE97F7F}" type="sibTrans" cxnId="{5A856075-2F48-4CFD-B263-B4ECAA471E4B}">
      <dgm:prSet/>
      <dgm:spPr/>
      <dgm:t>
        <a:bodyPr/>
        <a:lstStyle/>
        <a:p>
          <a:endParaRPr lang="en-US"/>
        </a:p>
      </dgm:t>
    </dgm:pt>
    <dgm:pt modelId="{A61E8936-6679-4653-8561-94DB62F353CB}">
      <dgm:prSet/>
      <dgm:spPr/>
      <dgm:t>
        <a:bodyPr/>
        <a:lstStyle/>
        <a:p>
          <a:r>
            <a:rPr lang="en-US"/>
            <a:t>Lifetime around ~282 days</a:t>
          </a:r>
        </a:p>
      </dgm:t>
    </dgm:pt>
    <dgm:pt modelId="{6CDA3D5C-3145-44AE-96AC-62C268AFE35B}" type="parTrans" cxnId="{51283613-3CE7-418E-AE89-CE51A9705459}">
      <dgm:prSet/>
      <dgm:spPr/>
      <dgm:t>
        <a:bodyPr/>
        <a:lstStyle/>
        <a:p>
          <a:endParaRPr lang="en-US"/>
        </a:p>
      </dgm:t>
    </dgm:pt>
    <dgm:pt modelId="{10DAA64F-9D8F-4A2F-85C8-16EE58973F93}" type="sibTrans" cxnId="{51283613-3CE7-418E-AE89-CE51A9705459}">
      <dgm:prSet/>
      <dgm:spPr/>
      <dgm:t>
        <a:bodyPr/>
        <a:lstStyle/>
        <a:p>
          <a:endParaRPr lang="en-US"/>
        </a:p>
      </dgm:t>
    </dgm:pt>
    <dgm:pt modelId="{F6D3A115-E404-4A73-9C00-1BDD0C9384D0}">
      <dgm:prSet/>
      <dgm:spPr/>
      <dgm:t>
        <a:bodyPr/>
        <a:lstStyle/>
        <a:p>
          <a:r>
            <a:rPr lang="en-US"/>
            <a:t>Important revenue drivers and very valuable to retain.</a:t>
          </a:r>
        </a:p>
      </dgm:t>
    </dgm:pt>
    <dgm:pt modelId="{27C6E568-2F2B-4B35-B178-E963C08DB152}" type="parTrans" cxnId="{9D9A08DF-D0DD-46BD-9B11-33C0FAA98F16}">
      <dgm:prSet/>
      <dgm:spPr/>
      <dgm:t>
        <a:bodyPr/>
        <a:lstStyle/>
        <a:p>
          <a:endParaRPr lang="en-US"/>
        </a:p>
      </dgm:t>
    </dgm:pt>
    <dgm:pt modelId="{4FB4CBF9-7C4B-419C-BB7B-EB10556D5778}" type="sibTrans" cxnId="{9D9A08DF-D0DD-46BD-9B11-33C0FAA98F16}">
      <dgm:prSet/>
      <dgm:spPr/>
      <dgm:t>
        <a:bodyPr/>
        <a:lstStyle/>
        <a:p>
          <a:endParaRPr lang="en-US"/>
        </a:p>
      </dgm:t>
    </dgm:pt>
    <dgm:pt modelId="{7C8D1CD8-DB38-4FF4-89E6-1C0A86D5CA5A}" type="pres">
      <dgm:prSet presAssocID="{D30BB619-EEA9-49F8-BF7A-CFF1B3DA9274}" presName="Name0" presStyleCnt="0">
        <dgm:presLayoutVars>
          <dgm:dir/>
          <dgm:animLvl val="lvl"/>
          <dgm:resizeHandles val="exact"/>
        </dgm:presLayoutVars>
      </dgm:prSet>
      <dgm:spPr/>
    </dgm:pt>
    <dgm:pt modelId="{47630050-0876-489E-AA9B-87EEE1E5AD1F}" type="pres">
      <dgm:prSet presAssocID="{686992AB-7107-4CF7-9C4F-1C075C2D906D}" presName="linNode" presStyleCnt="0"/>
      <dgm:spPr/>
    </dgm:pt>
    <dgm:pt modelId="{9AF9D679-EE37-4119-BDC5-F39C033C4E9F}" type="pres">
      <dgm:prSet presAssocID="{686992AB-7107-4CF7-9C4F-1C075C2D906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7C014BF-802C-45D9-968B-F2EDEA122EF0}" type="pres">
      <dgm:prSet presAssocID="{686992AB-7107-4CF7-9C4F-1C075C2D906D}" presName="descendantText" presStyleLbl="alignAccFollowNode1" presStyleIdx="0" presStyleCnt="3">
        <dgm:presLayoutVars>
          <dgm:bulletEnabled val="1"/>
        </dgm:presLayoutVars>
      </dgm:prSet>
      <dgm:spPr/>
    </dgm:pt>
    <dgm:pt modelId="{3BDF5BCB-0A9D-42E4-AA5E-C5A2EAC392B7}" type="pres">
      <dgm:prSet presAssocID="{9E97E8F2-7592-4419-B4E4-B7529F20EB54}" presName="sp" presStyleCnt="0"/>
      <dgm:spPr/>
    </dgm:pt>
    <dgm:pt modelId="{AEE50E52-D5F1-4CED-9F77-A7C845668F8E}" type="pres">
      <dgm:prSet presAssocID="{4D7705BC-8B99-4CE2-A7FA-5C5DC60CC0D5}" presName="linNode" presStyleCnt="0"/>
      <dgm:spPr/>
    </dgm:pt>
    <dgm:pt modelId="{B5C55C7E-A670-4690-A985-8FF8F20B0589}" type="pres">
      <dgm:prSet presAssocID="{4D7705BC-8B99-4CE2-A7FA-5C5DC60CC0D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31FB50D-FFBF-439B-A80E-BCC7C953D91C}" type="pres">
      <dgm:prSet presAssocID="{4D7705BC-8B99-4CE2-A7FA-5C5DC60CC0D5}" presName="descendantText" presStyleLbl="alignAccFollowNode1" presStyleIdx="1" presStyleCnt="3">
        <dgm:presLayoutVars>
          <dgm:bulletEnabled val="1"/>
        </dgm:presLayoutVars>
      </dgm:prSet>
      <dgm:spPr/>
    </dgm:pt>
    <dgm:pt modelId="{450BAD60-8A00-47A5-844C-B8C494EF37FD}" type="pres">
      <dgm:prSet presAssocID="{A16F1E31-8AA8-4B85-849C-3BB984A38842}" presName="sp" presStyleCnt="0"/>
      <dgm:spPr/>
    </dgm:pt>
    <dgm:pt modelId="{BFC23EF8-FAE3-40AD-A405-2398192650A2}" type="pres">
      <dgm:prSet presAssocID="{9DF6BD25-2817-4488-8247-2C8233D2D6E3}" presName="linNode" presStyleCnt="0"/>
      <dgm:spPr/>
    </dgm:pt>
    <dgm:pt modelId="{98F0C8F9-33B7-4621-A5DD-32EF5A0D9D76}" type="pres">
      <dgm:prSet presAssocID="{9DF6BD25-2817-4488-8247-2C8233D2D6E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A33BD6B-92D8-4848-8E46-71AF132AA8E5}" type="pres">
      <dgm:prSet presAssocID="{9DF6BD25-2817-4488-8247-2C8233D2D6E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1283613-3CE7-418E-AE89-CE51A9705459}" srcId="{9DF6BD25-2817-4488-8247-2C8233D2D6E3}" destId="{A61E8936-6679-4653-8561-94DB62F353CB}" srcOrd="1" destOrd="0" parTransId="{6CDA3D5C-3145-44AE-96AC-62C268AFE35B}" sibTransId="{10DAA64F-9D8F-4A2F-85C8-16EE58973F93}"/>
    <dgm:cxn modelId="{6CA07418-0B63-4B29-94B0-A6AE90A06AE7}" srcId="{686992AB-7107-4CF7-9C4F-1C075C2D906D}" destId="{18FB6257-65DE-4056-B45F-5264230181D2}" srcOrd="0" destOrd="0" parTransId="{29D83661-39D4-4636-83B3-9CBDD68CC318}" sibTransId="{7C019340-0D46-48AC-81C3-3CDC4AB0F0A1}"/>
    <dgm:cxn modelId="{BCA2FB1B-EBE9-4F64-BA50-1B4EE14A684C}" type="presOf" srcId="{0B36D7B1-2201-46FC-9974-38A56674424A}" destId="{631FB50D-FFBF-439B-A80E-BCC7C953D91C}" srcOrd="0" destOrd="1" presId="urn:microsoft.com/office/officeart/2005/8/layout/vList5"/>
    <dgm:cxn modelId="{7C0D2222-8E8E-48AF-A01A-E18B433ECD38}" srcId="{4D7705BC-8B99-4CE2-A7FA-5C5DC60CC0D5}" destId="{8F3FBE0A-611F-4E72-8650-8CB09542249C}" srcOrd="3" destOrd="0" parTransId="{19C5BB9F-371E-4C38-8B4F-507962B715B5}" sibTransId="{E2A9703A-E5E5-46E5-A198-3ECFDA7A78CA}"/>
    <dgm:cxn modelId="{8CC3F228-D3D8-450A-BFE4-844E48D01DCF}" srcId="{4D7705BC-8B99-4CE2-A7FA-5C5DC60CC0D5}" destId="{0B36D7B1-2201-46FC-9974-38A56674424A}" srcOrd="1" destOrd="0" parTransId="{33033071-72BB-49A4-A81F-D031DD89F3EA}" sibTransId="{98064396-83E3-4558-98C3-1C29C2FE5968}"/>
    <dgm:cxn modelId="{182DC52D-75C9-41F9-9DE0-C73D3C4FF3DF}" type="presOf" srcId="{18FB6257-65DE-4056-B45F-5264230181D2}" destId="{D7C014BF-802C-45D9-968B-F2EDEA122EF0}" srcOrd="0" destOrd="0" presId="urn:microsoft.com/office/officeart/2005/8/layout/vList5"/>
    <dgm:cxn modelId="{89FFBC33-3B1B-423A-8ED4-5F09C5A82103}" type="presOf" srcId="{28B53D25-DCD0-4A30-8AA6-F875936D81C8}" destId="{631FB50D-FFBF-439B-A80E-BCC7C953D91C}" srcOrd="0" destOrd="0" presId="urn:microsoft.com/office/officeart/2005/8/layout/vList5"/>
    <dgm:cxn modelId="{C9C4E636-6DA3-45A3-8248-C6744C916827}" type="presOf" srcId="{DE151D24-5C25-4EF6-9AE1-B677D90EE2EB}" destId="{631FB50D-FFBF-439B-A80E-BCC7C953D91C}" srcOrd="0" destOrd="2" presId="urn:microsoft.com/office/officeart/2005/8/layout/vList5"/>
    <dgm:cxn modelId="{ACA14238-1853-47A6-9CDB-2545E4E9C50C}" type="presOf" srcId="{48EC5D2D-4689-4BCA-A051-A8B69EC67C04}" destId="{D7C014BF-802C-45D9-968B-F2EDEA122EF0}" srcOrd="0" destOrd="2" presId="urn:microsoft.com/office/officeart/2005/8/layout/vList5"/>
    <dgm:cxn modelId="{B3E3F361-B7E4-4136-9ED7-487DDBA9A0C1}" srcId="{686992AB-7107-4CF7-9C4F-1C075C2D906D}" destId="{5FD40412-C7D2-4869-A27E-10DA1E08D201}" srcOrd="1" destOrd="0" parTransId="{B3F5EC68-EEEB-4CA8-817D-3ACA15EA81A8}" sibTransId="{698A8E97-26B2-4AE4-AFCC-D0A2F7B7228A}"/>
    <dgm:cxn modelId="{8BDA9F6C-3751-450B-BFFF-EAE0FDA333E4}" type="presOf" srcId="{5FD40412-C7D2-4869-A27E-10DA1E08D201}" destId="{D7C014BF-802C-45D9-968B-F2EDEA122EF0}" srcOrd="0" destOrd="1" presId="urn:microsoft.com/office/officeart/2005/8/layout/vList5"/>
    <dgm:cxn modelId="{081FAB4D-4B72-4B5A-8CF2-6079B9B15E3D}" type="presOf" srcId="{686992AB-7107-4CF7-9C4F-1C075C2D906D}" destId="{9AF9D679-EE37-4119-BDC5-F39C033C4E9F}" srcOrd="0" destOrd="0" presId="urn:microsoft.com/office/officeart/2005/8/layout/vList5"/>
    <dgm:cxn modelId="{D8F02971-0883-41CD-9689-6E4EF96D471E}" srcId="{4D7705BC-8B99-4CE2-A7FA-5C5DC60CC0D5}" destId="{28B53D25-DCD0-4A30-8AA6-F875936D81C8}" srcOrd="0" destOrd="0" parTransId="{04163EAC-E1B2-46E4-BEFD-D99F71A9F155}" sibTransId="{17E69196-ADE9-4C7F-9338-F49FCF57BA65}"/>
    <dgm:cxn modelId="{5A856075-2F48-4CFD-B263-B4ECAA471E4B}" srcId="{9DF6BD25-2817-4488-8247-2C8233D2D6E3}" destId="{686E1504-A315-4687-9E2D-8B551B677D47}" srcOrd="0" destOrd="0" parTransId="{3504B58A-8F4D-4832-AE6A-7587FBFB0D33}" sibTransId="{265C4F54-4A70-4A55-AB75-126EBAE97F7F}"/>
    <dgm:cxn modelId="{D50A4875-0323-498A-82AE-FBB2C7C49122}" type="presOf" srcId="{686E1504-A315-4687-9E2D-8B551B677D47}" destId="{8A33BD6B-92D8-4848-8E46-71AF132AA8E5}" srcOrd="0" destOrd="0" presId="urn:microsoft.com/office/officeart/2005/8/layout/vList5"/>
    <dgm:cxn modelId="{CE2D7E57-AE43-4F59-A964-4E4771DFFB03}" type="presOf" srcId="{D30BB619-EEA9-49F8-BF7A-CFF1B3DA9274}" destId="{7C8D1CD8-DB38-4FF4-89E6-1C0A86D5CA5A}" srcOrd="0" destOrd="0" presId="urn:microsoft.com/office/officeart/2005/8/layout/vList5"/>
    <dgm:cxn modelId="{76F39B77-539E-4072-AE48-102F17FA1C67}" type="presOf" srcId="{9DF6BD25-2817-4488-8247-2C8233D2D6E3}" destId="{98F0C8F9-33B7-4621-A5DD-32EF5A0D9D76}" srcOrd="0" destOrd="0" presId="urn:microsoft.com/office/officeart/2005/8/layout/vList5"/>
    <dgm:cxn modelId="{1613187F-F9BD-404C-9013-915072B63F38}" type="presOf" srcId="{A61E8936-6679-4653-8561-94DB62F353CB}" destId="{8A33BD6B-92D8-4848-8E46-71AF132AA8E5}" srcOrd="0" destOrd="1" presId="urn:microsoft.com/office/officeart/2005/8/layout/vList5"/>
    <dgm:cxn modelId="{845F58C9-1529-4F17-AC6F-E50DD3C13804}" srcId="{D30BB619-EEA9-49F8-BF7A-CFF1B3DA9274}" destId="{9DF6BD25-2817-4488-8247-2C8233D2D6E3}" srcOrd="2" destOrd="0" parTransId="{DBEC5E6A-F702-4ADC-A12B-153844C492EC}" sibTransId="{2D2244B6-1FEF-4E75-B1E7-69BA784F73BF}"/>
    <dgm:cxn modelId="{245070CB-9488-449D-A902-DCA4EB761AB3}" type="presOf" srcId="{8F3FBE0A-611F-4E72-8650-8CB09542249C}" destId="{631FB50D-FFBF-439B-A80E-BCC7C953D91C}" srcOrd="0" destOrd="3" presId="urn:microsoft.com/office/officeart/2005/8/layout/vList5"/>
    <dgm:cxn modelId="{F7F61FDA-2449-44FD-8F99-69295AE74910}" srcId="{D30BB619-EEA9-49F8-BF7A-CFF1B3DA9274}" destId="{4D7705BC-8B99-4CE2-A7FA-5C5DC60CC0D5}" srcOrd="1" destOrd="0" parTransId="{C0A9AAC3-2342-4116-B038-27C93FFF9D1B}" sibTransId="{A16F1E31-8AA8-4B85-849C-3BB984A38842}"/>
    <dgm:cxn modelId="{F15B92DA-DC50-4EB1-A9F2-97F677F8C14F}" srcId="{686992AB-7107-4CF7-9C4F-1C075C2D906D}" destId="{48EC5D2D-4689-4BCA-A051-A8B69EC67C04}" srcOrd="2" destOrd="0" parTransId="{B27473A2-AA68-4BC3-AB07-84E17F59B7B8}" sibTransId="{0972490F-B215-471E-A4D6-17BC7424069B}"/>
    <dgm:cxn modelId="{9D9A08DF-D0DD-46BD-9B11-33C0FAA98F16}" srcId="{9DF6BD25-2817-4488-8247-2C8233D2D6E3}" destId="{F6D3A115-E404-4A73-9C00-1BDD0C9384D0}" srcOrd="2" destOrd="0" parTransId="{27C6E568-2F2B-4B35-B178-E963C08DB152}" sibTransId="{4FB4CBF9-7C4B-419C-BB7B-EB10556D5778}"/>
    <dgm:cxn modelId="{82EA70E3-4423-496B-9822-C69E5FDF4483}" srcId="{D30BB619-EEA9-49F8-BF7A-CFF1B3DA9274}" destId="{686992AB-7107-4CF7-9C4F-1C075C2D906D}" srcOrd="0" destOrd="0" parTransId="{6F7785AF-110C-4E4E-8173-63418D916E16}" sibTransId="{9E97E8F2-7592-4419-B4E4-B7529F20EB54}"/>
    <dgm:cxn modelId="{3CAC53E5-D97D-45EB-9BD3-3437893BF427}" type="presOf" srcId="{F6D3A115-E404-4A73-9C00-1BDD0C9384D0}" destId="{8A33BD6B-92D8-4848-8E46-71AF132AA8E5}" srcOrd="0" destOrd="2" presId="urn:microsoft.com/office/officeart/2005/8/layout/vList5"/>
    <dgm:cxn modelId="{1A56A8EA-F30F-465E-A33C-8CC13EE40362}" type="presOf" srcId="{4D7705BC-8B99-4CE2-A7FA-5C5DC60CC0D5}" destId="{B5C55C7E-A670-4690-A985-8FF8F20B0589}" srcOrd="0" destOrd="0" presId="urn:microsoft.com/office/officeart/2005/8/layout/vList5"/>
    <dgm:cxn modelId="{FBA2EDF1-1199-45CF-8F44-29F7A2CD851D}" srcId="{4D7705BC-8B99-4CE2-A7FA-5C5DC60CC0D5}" destId="{DE151D24-5C25-4EF6-9AE1-B677D90EE2EB}" srcOrd="2" destOrd="0" parTransId="{E8B75763-BF02-49AF-A12F-9E5C91E11534}" sibTransId="{0D001CB1-65F4-4E35-8252-F437C43386B1}"/>
    <dgm:cxn modelId="{5B0BAA7D-E2FE-4454-AB24-BE4C382F90F8}" type="presParOf" srcId="{7C8D1CD8-DB38-4FF4-89E6-1C0A86D5CA5A}" destId="{47630050-0876-489E-AA9B-87EEE1E5AD1F}" srcOrd="0" destOrd="0" presId="urn:microsoft.com/office/officeart/2005/8/layout/vList5"/>
    <dgm:cxn modelId="{2FB1A031-09CB-4583-A4DB-165B94EA5DE8}" type="presParOf" srcId="{47630050-0876-489E-AA9B-87EEE1E5AD1F}" destId="{9AF9D679-EE37-4119-BDC5-F39C033C4E9F}" srcOrd="0" destOrd="0" presId="urn:microsoft.com/office/officeart/2005/8/layout/vList5"/>
    <dgm:cxn modelId="{FC02650F-1D65-466E-B12B-0A2BAE2893E5}" type="presParOf" srcId="{47630050-0876-489E-AA9B-87EEE1E5AD1F}" destId="{D7C014BF-802C-45D9-968B-F2EDEA122EF0}" srcOrd="1" destOrd="0" presId="urn:microsoft.com/office/officeart/2005/8/layout/vList5"/>
    <dgm:cxn modelId="{07196B02-3F15-4A79-9A64-4F6E14C9EA1F}" type="presParOf" srcId="{7C8D1CD8-DB38-4FF4-89E6-1C0A86D5CA5A}" destId="{3BDF5BCB-0A9D-42E4-AA5E-C5A2EAC392B7}" srcOrd="1" destOrd="0" presId="urn:microsoft.com/office/officeart/2005/8/layout/vList5"/>
    <dgm:cxn modelId="{F3B4F1F2-F9EA-44EF-B79A-830AFE7E0000}" type="presParOf" srcId="{7C8D1CD8-DB38-4FF4-89E6-1C0A86D5CA5A}" destId="{AEE50E52-D5F1-4CED-9F77-A7C845668F8E}" srcOrd="2" destOrd="0" presId="urn:microsoft.com/office/officeart/2005/8/layout/vList5"/>
    <dgm:cxn modelId="{D75F01C0-A04C-4332-8E8B-AD11B20D8C11}" type="presParOf" srcId="{AEE50E52-D5F1-4CED-9F77-A7C845668F8E}" destId="{B5C55C7E-A670-4690-A985-8FF8F20B0589}" srcOrd="0" destOrd="0" presId="urn:microsoft.com/office/officeart/2005/8/layout/vList5"/>
    <dgm:cxn modelId="{EE1F5B51-CA39-4F4C-9114-B8EBD1ED39B2}" type="presParOf" srcId="{AEE50E52-D5F1-4CED-9F77-A7C845668F8E}" destId="{631FB50D-FFBF-439B-A80E-BCC7C953D91C}" srcOrd="1" destOrd="0" presId="urn:microsoft.com/office/officeart/2005/8/layout/vList5"/>
    <dgm:cxn modelId="{A546E879-35EE-467F-9A4F-A4CC18831F68}" type="presParOf" srcId="{7C8D1CD8-DB38-4FF4-89E6-1C0A86D5CA5A}" destId="{450BAD60-8A00-47A5-844C-B8C494EF37FD}" srcOrd="3" destOrd="0" presId="urn:microsoft.com/office/officeart/2005/8/layout/vList5"/>
    <dgm:cxn modelId="{DEA0A786-23DC-48E0-AC20-44C26B13BA62}" type="presParOf" srcId="{7C8D1CD8-DB38-4FF4-89E6-1C0A86D5CA5A}" destId="{BFC23EF8-FAE3-40AD-A405-2398192650A2}" srcOrd="4" destOrd="0" presId="urn:microsoft.com/office/officeart/2005/8/layout/vList5"/>
    <dgm:cxn modelId="{7B7133F6-8DE6-43D9-AD83-990516F15526}" type="presParOf" srcId="{BFC23EF8-FAE3-40AD-A405-2398192650A2}" destId="{98F0C8F9-33B7-4621-A5DD-32EF5A0D9D76}" srcOrd="0" destOrd="0" presId="urn:microsoft.com/office/officeart/2005/8/layout/vList5"/>
    <dgm:cxn modelId="{CAEDB094-8A30-4302-8C56-4452F6AAC179}" type="presParOf" srcId="{BFC23EF8-FAE3-40AD-A405-2398192650A2}" destId="{8A33BD6B-92D8-4848-8E46-71AF132AA8E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2C093E-341A-42FC-92E8-D9419AD55B8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98C3A9-3860-41E2-BC98-5B13E908A48E}">
      <dgm:prSet/>
      <dgm:spPr/>
      <dgm:t>
        <a:bodyPr/>
        <a:lstStyle/>
        <a:p>
          <a:r>
            <a:rPr lang="en-US"/>
            <a:t>Number of clusters</a:t>
          </a:r>
        </a:p>
      </dgm:t>
    </dgm:pt>
    <dgm:pt modelId="{1989D20E-8EC2-4BB4-941D-7F1F87B95DD2}" type="parTrans" cxnId="{6FD11ABA-74D1-455D-9369-D22C5497A981}">
      <dgm:prSet/>
      <dgm:spPr/>
      <dgm:t>
        <a:bodyPr/>
        <a:lstStyle/>
        <a:p>
          <a:endParaRPr lang="en-US"/>
        </a:p>
      </dgm:t>
    </dgm:pt>
    <dgm:pt modelId="{C651E4EE-A5EA-4C64-8CDE-370BA7D5112F}" type="sibTrans" cxnId="{6FD11ABA-74D1-455D-9369-D22C5497A981}">
      <dgm:prSet/>
      <dgm:spPr/>
      <dgm:t>
        <a:bodyPr/>
        <a:lstStyle/>
        <a:p>
          <a:endParaRPr lang="en-US"/>
        </a:p>
      </dgm:t>
    </dgm:pt>
    <dgm:pt modelId="{C46333EE-AB93-41E8-8F59-37023B15C575}">
      <dgm:prSet/>
      <dgm:spPr/>
      <dgm:t>
        <a:bodyPr/>
        <a:lstStyle/>
        <a:p>
          <a:r>
            <a:rPr lang="en-US"/>
            <a:t>Churn inactivity threshold (days)</a:t>
          </a:r>
        </a:p>
      </dgm:t>
    </dgm:pt>
    <dgm:pt modelId="{6C8560EB-7157-423C-80DD-51992262473F}" type="parTrans" cxnId="{0B49A288-A07E-4701-A970-5E5A2AAC3143}">
      <dgm:prSet/>
      <dgm:spPr/>
      <dgm:t>
        <a:bodyPr/>
        <a:lstStyle/>
        <a:p>
          <a:endParaRPr lang="en-US"/>
        </a:p>
      </dgm:t>
    </dgm:pt>
    <dgm:pt modelId="{DEA054F9-1765-49EC-8D36-5EBDA48778A6}" type="sibTrans" cxnId="{0B49A288-A07E-4701-A970-5E5A2AAC3143}">
      <dgm:prSet/>
      <dgm:spPr/>
      <dgm:t>
        <a:bodyPr/>
        <a:lstStyle/>
        <a:p>
          <a:endParaRPr lang="en-US"/>
        </a:p>
      </dgm:t>
    </dgm:pt>
    <dgm:pt modelId="{5D052955-6163-49F9-B76D-76ADE34F50F5}">
      <dgm:prSet/>
      <dgm:spPr/>
      <dgm:t>
        <a:bodyPr/>
        <a:lstStyle/>
        <a:p>
          <a:r>
            <a:rPr lang="en-US" dirty="0"/>
            <a:t>Cluster selection</a:t>
          </a:r>
        </a:p>
      </dgm:t>
    </dgm:pt>
    <dgm:pt modelId="{3D9B1339-E6A3-456D-8DB2-1587FC37F18F}" type="parTrans" cxnId="{FAC8F247-CAF8-42B8-94BD-0FBA437AA134}">
      <dgm:prSet/>
      <dgm:spPr/>
      <dgm:t>
        <a:bodyPr/>
        <a:lstStyle/>
        <a:p>
          <a:endParaRPr lang="en-US"/>
        </a:p>
      </dgm:t>
    </dgm:pt>
    <dgm:pt modelId="{3B310917-D7D7-462B-9D92-F7B846D2E156}" type="sibTrans" cxnId="{FAC8F247-CAF8-42B8-94BD-0FBA437AA134}">
      <dgm:prSet/>
      <dgm:spPr/>
      <dgm:t>
        <a:bodyPr/>
        <a:lstStyle/>
        <a:p>
          <a:endParaRPr lang="en-US"/>
        </a:p>
      </dgm:t>
    </dgm:pt>
    <dgm:pt modelId="{D640D2FC-EF45-43D7-8E25-C226A17DB958}">
      <dgm:prSet/>
      <dgm:spPr/>
      <dgm:t>
        <a:bodyPr/>
        <a:lstStyle/>
        <a:p>
          <a:r>
            <a:rPr lang="en-US"/>
            <a:t>Date range</a:t>
          </a:r>
        </a:p>
      </dgm:t>
    </dgm:pt>
    <dgm:pt modelId="{37DDD230-3B8A-4434-9451-9294F4372FB3}" type="parTrans" cxnId="{81E5BDC0-7E7F-4D67-805E-60B3D38474AF}">
      <dgm:prSet/>
      <dgm:spPr/>
      <dgm:t>
        <a:bodyPr/>
        <a:lstStyle/>
        <a:p>
          <a:endParaRPr lang="en-US"/>
        </a:p>
      </dgm:t>
    </dgm:pt>
    <dgm:pt modelId="{27FB9EBD-F30A-43F0-B513-7AC4EC70593B}" type="sibTrans" cxnId="{81E5BDC0-7E7F-4D67-805E-60B3D38474AF}">
      <dgm:prSet/>
      <dgm:spPr/>
      <dgm:t>
        <a:bodyPr/>
        <a:lstStyle/>
        <a:p>
          <a:endParaRPr lang="en-US"/>
        </a:p>
      </dgm:t>
    </dgm:pt>
    <dgm:pt modelId="{FF5A2787-70F7-41E1-816D-67F33D298BC7}" type="pres">
      <dgm:prSet presAssocID="{752C093E-341A-42FC-92E8-D9419AD55B82}" presName="matrix" presStyleCnt="0">
        <dgm:presLayoutVars>
          <dgm:chMax val="1"/>
          <dgm:dir/>
          <dgm:resizeHandles val="exact"/>
        </dgm:presLayoutVars>
      </dgm:prSet>
      <dgm:spPr/>
    </dgm:pt>
    <dgm:pt modelId="{3985256C-CBD8-405E-8168-B373EA0E44A8}" type="pres">
      <dgm:prSet presAssocID="{752C093E-341A-42FC-92E8-D9419AD55B82}" presName="diamond" presStyleLbl="bgShp" presStyleIdx="0" presStyleCnt="1"/>
      <dgm:spPr/>
    </dgm:pt>
    <dgm:pt modelId="{40A7375E-48DC-4CF6-A063-05C2383E9F87}" type="pres">
      <dgm:prSet presAssocID="{752C093E-341A-42FC-92E8-D9419AD55B8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27FE992-F907-4F6A-B43D-B109508FCB86}" type="pres">
      <dgm:prSet presAssocID="{752C093E-341A-42FC-92E8-D9419AD55B8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0975495-AE74-4CFB-8E60-58AA95DBC091}" type="pres">
      <dgm:prSet presAssocID="{752C093E-341A-42FC-92E8-D9419AD55B8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B2B587B-26B2-4B23-B75C-15F6F3A5214C}" type="pres">
      <dgm:prSet presAssocID="{752C093E-341A-42FC-92E8-D9419AD55B8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AC8F247-CAF8-42B8-94BD-0FBA437AA134}" srcId="{752C093E-341A-42FC-92E8-D9419AD55B82}" destId="{5D052955-6163-49F9-B76D-76ADE34F50F5}" srcOrd="2" destOrd="0" parTransId="{3D9B1339-E6A3-456D-8DB2-1587FC37F18F}" sibTransId="{3B310917-D7D7-462B-9D92-F7B846D2E156}"/>
    <dgm:cxn modelId="{C7EC0568-7D6C-418E-A647-4AC70712F806}" type="presOf" srcId="{4198C3A9-3860-41E2-BC98-5B13E908A48E}" destId="{40A7375E-48DC-4CF6-A063-05C2383E9F87}" srcOrd="0" destOrd="0" presId="urn:microsoft.com/office/officeart/2005/8/layout/matrix3"/>
    <dgm:cxn modelId="{19D1EE84-0E1F-43EC-A340-B549556D9033}" type="presOf" srcId="{5D052955-6163-49F9-B76D-76ADE34F50F5}" destId="{B0975495-AE74-4CFB-8E60-58AA95DBC091}" srcOrd="0" destOrd="0" presId="urn:microsoft.com/office/officeart/2005/8/layout/matrix3"/>
    <dgm:cxn modelId="{0B49A288-A07E-4701-A970-5E5A2AAC3143}" srcId="{752C093E-341A-42FC-92E8-D9419AD55B82}" destId="{C46333EE-AB93-41E8-8F59-37023B15C575}" srcOrd="1" destOrd="0" parTransId="{6C8560EB-7157-423C-80DD-51992262473F}" sibTransId="{DEA054F9-1765-49EC-8D36-5EBDA48778A6}"/>
    <dgm:cxn modelId="{A7526790-DCA5-4493-BBFA-71122ADA4967}" type="presOf" srcId="{C46333EE-AB93-41E8-8F59-37023B15C575}" destId="{427FE992-F907-4F6A-B43D-B109508FCB86}" srcOrd="0" destOrd="0" presId="urn:microsoft.com/office/officeart/2005/8/layout/matrix3"/>
    <dgm:cxn modelId="{6FD11ABA-74D1-455D-9369-D22C5497A981}" srcId="{752C093E-341A-42FC-92E8-D9419AD55B82}" destId="{4198C3A9-3860-41E2-BC98-5B13E908A48E}" srcOrd="0" destOrd="0" parTransId="{1989D20E-8EC2-4BB4-941D-7F1F87B95DD2}" sibTransId="{C651E4EE-A5EA-4C64-8CDE-370BA7D5112F}"/>
    <dgm:cxn modelId="{81E5BDC0-7E7F-4D67-805E-60B3D38474AF}" srcId="{752C093E-341A-42FC-92E8-D9419AD55B82}" destId="{D640D2FC-EF45-43D7-8E25-C226A17DB958}" srcOrd="3" destOrd="0" parTransId="{37DDD230-3B8A-4434-9451-9294F4372FB3}" sibTransId="{27FB9EBD-F30A-43F0-B513-7AC4EC70593B}"/>
    <dgm:cxn modelId="{8C3453DF-6B7B-435E-B7BA-5867272EC911}" type="presOf" srcId="{752C093E-341A-42FC-92E8-D9419AD55B82}" destId="{FF5A2787-70F7-41E1-816D-67F33D298BC7}" srcOrd="0" destOrd="0" presId="urn:microsoft.com/office/officeart/2005/8/layout/matrix3"/>
    <dgm:cxn modelId="{D5B058EE-D7BC-4A54-A5B4-251FB1336CFC}" type="presOf" srcId="{D640D2FC-EF45-43D7-8E25-C226A17DB958}" destId="{EB2B587B-26B2-4B23-B75C-15F6F3A5214C}" srcOrd="0" destOrd="0" presId="urn:microsoft.com/office/officeart/2005/8/layout/matrix3"/>
    <dgm:cxn modelId="{2A228686-BEFB-42C4-88F5-C8960C9C6645}" type="presParOf" srcId="{FF5A2787-70F7-41E1-816D-67F33D298BC7}" destId="{3985256C-CBD8-405E-8168-B373EA0E44A8}" srcOrd="0" destOrd="0" presId="urn:microsoft.com/office/officeart/2005/8/layout/matrix3"/>
    <dgm:cxn modelId="{DEA8D1EC-20C8-4C91-8298-FF22CE6DBE73}" type="presParOf" srcId="{FF5A2787-70F7-41E1-816D-67F33D298BC7}" destId="{40A7375E-48DC-4CF6-A063-05C2383E9F87}" srcOrd="1" destOrd="0" presId="urn:microsoft.com/office/officeart/2005/8/layout/matrix3"/>
    <dgm:cxn modelId="{46E4877E-5124-456F-90C8-9A4CA36467BE}" type="presParOf" srcId="{FF5A2787-70F7-41E1-816D-67F33D298BC7}" destId="{427FE992-F907-4F6A-B43D-B109508FCB86}" srcOrd="2" destOrd="0" presId="urn:microsoft.com/office/officeart/2005/8/layout/matrix3"/>
    <dgm:cxn modelId="{B8E91CD7-6698-45D6-A28A-9CF891D8F002}" type="presParOf" srcId="{FF5A2787-70F7-41E1-816D-67F33D298BC7}" destId="{B0975495-AE74-4CFB-8E60-58AA95DBC091}" srcOrd="3" destOrd="0" presId="urn:microsoft.com/office/officeart/2005/8/layout/matrix3"/>
    <dgm:cxn modelId="{E3069A89-7D18-4B42-80F6-9D3BA3D7BC4A}" type="presParOf" srcId="{FF5A2787-70F7-41E1-816D-67F33D298BC7}" destId="{EB2B587B-26B2-4B23-B75C-15F6F3A5214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77445A-809B-4F82-8FA0-8EF89403EE4C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112AC0-51E2-44B6-89D7-667402336158}">
      <dgm:prSet phldrT="[Text]"/>
      <dgm:spPr/>
      <dgm:t>
        <a:bodyPr/>
        <a:lstStyle/>
        <a:p>
          <a:r>
            <a:rPr lang="en-US" dirty="0"/>
            <a:t>Flexibility</a:t>
          </a:r>
        </a:p>
      </dgm:t>
    </dgm:pt>
    <dgm:pt modelId="{E46AB9E8-91C3-40A7-8564-CA236BEA0DD2}" type="parTrans" cxnId="{EAF621C5-AD5C-4369-9DE1-B2645E8C0394}">
      <dgm:prSet/>
      <dgm:spPr/>
      <dgm:t>
        <a:bodyPr/>
        <a:lstStyle/>
        <a:p>
          <a:endParaRPr lang="en-US"/>
        </a:p>
      </dgm:t>
    </dgm:pt>
    <dgm:pt modelId="{8477F3F7-44B6-4B59-9982-6BB64890E591}" type="sibTrans" cxnId="{EAF621C5-AD5C-4369-9DE1-B2645E8C0394}">
      <dgm:prSet/>
      <dgm:spPr/>
      <dgm:t>
        <a:bodyPr/>
        <a:lstStyle/>
        <a:p>
          <a:endParaRPr lang="en-US"/>
        </a:p>
      </dgm:t>
    </dgm:pt>
    <dgm:pt modelId="{586E778F-5355-4EF9-83A0-C7274D39BC84}">
      <dgm:prSet phldrT="[Text]"/>
      <dgm:spPr/>
      <dgm:t>
        <a:bodyPr/>
        <a:lstStyle/>
        <a:p>
          <a:r>
            <a:rPr lang="en-US" dirty="0"/>
            <a:t>Different types of users (analysts, managers, decision-makers) can interact with the dashboard according to their needs.</a:t>
          </a:r>
        </a:p>
      </dgm:t>
    </dgm:pt>
    <dgm:pt modelId="{7F890EA6-C4CD-4CB5-A8FE-794FC7016BE3}" type="parTrans" cxnId="{D6D9CE39-558C-4112-8C3C-656941824DBE}">
      <dgm:prSet/>
      <dgm:spPr/>
      <dgm:t>
        <a:bodyPr/>
        <a:lstStyle/>
        <a:p>
          <a:endParaRPr lang="en-US"/>
        </a:p>
      </dgm:t>
    </dgm:pt>
    <dgm:pt modelId="{FB6E4597-E18A-40E1-AB42-6A84C7572234}" type="sibTrans" cxnId="{D6D9CE39-558C-4112-8C3C-656941824DBE}">
      <dgm:prSet/>
      <dgm:spPr/>
      <dgm:t>
        <a:bodyPr/>
        <a:lstStyle/>
        <a:p>
          <a:endParaRPr lang="en-US"/>
        </a:p>
      </dgm:t>
    </dgm:pt>
    <dgm:pt modelId="{2B2DA142-A4EB-46F1-91BB-D0E18B093DDA}">
      <dgm:prSet phldrT="[Text]"/>
      <dgm:spPr/>
      <dgm:t>
        <a:bodyPr/>
        <a:lstStyle/>
        <a:p>
          <a:r>
            <a:rPr lang="en-US" dirty="0"/>
            <a:t>Dynamic Reflection</a:t>
          </a:r>
        </a:p>
      </dgm:t>
    </dgm:pt>
    <dgm:pt modelId="{E0922E52-856E-4B76-9F84-7D5276EA5ED8}" type="parTrans" cxnId="{DCCCF31D-76F8-46AA-A862-14568EDE0DF9}">
      <dgm:prSet/>
      <dgm:spPr/>
      <dgm:t>
        <a:bodyPr/>
        <a:lstStyle/>
        <a:p>
          <a:endParaRPr lang="en-US"/>
        </a:p>
      </dgm:t>
    </dgm:pt>
    <dgm:pt modelId="{E09114AF-297D-4F0C-BB3B-3045C18394F9}" type="sibTrans" cxnId="{DCCCF31D-76F8-46AA-A862-14568EDE0DF9}">
      <dgm:prSet/>
      <dgm:spPr/>
      <dgm:t>
        <a:bodyPr/>
        <a:lstStyle/>
        <a:p>
          <a:endParaRPr lang="en-US"/>
        </a:p>
      </dgm:t>
    </dgm:pt>
    <dgm:pt modelId="{09D1B38D-71D9-43FE-B5B9-8DC5CDB0E386}">
      <dgm:prSet phldrT="[Text]"/>
      <dgm:spPr/>
      <dgm:t>
        <a:bodyPr/>
        <a:lstStyle/>
        <a:p>
          <a:r>
            <a:rPr lang="en-US" dirty="0"/>
            <a:t>Every parameter change (clusters, churn threshold, date range) updates all visuals instantly.</a:t>
          </a:r>
        </a:p>
      </dgm:t>
    </dgm:pt>
    <dgm:pt modelId="{D9235ED8-AD4F-498C-ACD0-C8C42D5CEEF7}" type="parTrans" cxnId="{0AACD86A-4FA9-45C4-A70C-4C7A8406E9A4}">
      <dgm:prSet/>
      <dgm:spPr/>
      <dgm:t>
        <a:bodyPr/>
        <a:lstStyle/>
        <a:p>
          <a:endParaRPr lang="en-US"/>
        </a:p>
      </dgm:t>
    </dgm:pt>
    <dgm:pt modelId="{7C4F4E30-C0A7-4333-89B1-1BF3B2E5D865}" type="sibTrans" cxnId="{0AACD86A-4FA9-45C4-A70C-4C7A8406E9A4}">
      <dgm:prSet/>
      <dgm:spPr/>
      <dgm:t>
        <a:bodyPr/>
        <a:lstStyle/>
        <a:p>
          <a:endParaRPr lang="en-US"/>
        </a:p>
      </dgm:t>
    </dgm:pt>
    <dgm:pt modelId="{A471883B-592A-4351-950A-EE606871BD09}">
      <dgm:prSet phldrT="[Text]"/>
      <dgm:spPr/>
      <dgm:t>
        <a:bodyPr/>
        <a:lstStyle/>
        <a:p>
          <a:r>
            <a:rPr lang="en-US" dirty="0"/>
            <a:t>Visuals such as radar charts, scatter plots, and KPIs simplify complex ML outputs.</a:t>
          </a:r>
        </a:p>
      </dgm:t>
    </dgm:pt>
    <dgm:pt modelId="{A0BD968B-3C44-45D3-9EC7-EFC31044E6A3}" type="parTrans" cxnId="{2BEB17CC-BEFE-4F00-9DC3-6C63E3D1925E}">
      <dgm:prSet/>
      <dgm:spPr/>
      <dgm:t>
        <a:bodyPr/>
        <a:lstStyle/>
        <a:p>
          <a:endParaRPr lang="en-US"/>
        </a:p>
      </dgm:t>
    </dgm:pt>
    <dgm:pt modelId="{396DA7B3-01D2-454A-88BA-6A2AD5921225}" type="sibTrans" cxnId="{2BEB17CC-BEFE-4F00-9DC3-6C63E3D1925E}">
      <dgm:prSet/>
      <dgm:spPr/>
      <dgm:t>
        <a:bodyPr/>
        <a:lstStyle/>
        <a:p>
          <a:endParaRPr lang="en-US"/>
        </a:p>
      </dgm:t>
    </dgm:pt>
    <dgm:pt modelId="{6C46072F-4B99-4FFB-9FE5-E1EF146539E5}">
      <dgm:prSet phldrT="[Text]"/>
      <dgm:spPr/>
      <dgm:t>
        <a:bodyPr/>
        <a:lstStyle/>
        <a:p>
          <a:r>
            <a:rPr lang="en-US" dirty="0"/>
            <a:t>Action-Driven Insights</a:t>
          </a:r>
        </a:p>
      </dgm:t>
    </dgm:pt>
    <dgm:pt modelId="{0046F2A1-6EE6-4624-8B3B-8B5282726378}" type="parTrans" cxnId="{CB7549FD-6099-4975-829E-E2EB7D6E7218}">
      <dgm:prSet/>
      <dgm:spPr/>
      <dgm:t>
        <a:bodyPr/>
        <a:lstStyle/>
        <a:p>
          <a:endParaRPr lang="en-US"/>
        </a:p>
      </dgm:t>
    </dgm:pt>
    <dgm:pt modelId="{3667C348-21D8-442F-BC61-B9DF63D42067}" type="sibTrans" cxnId="{CB7549FD-6099-4975-829E-E2EB7D6E7218}">
      <dgm:prSet/>
      <dgm:spPr/>
      <dgm:t>
        <a:bodyPr/>
        <a:lstStyle/>
        <a:p>
          <a:endParaRPr lang="en-US"/>
        </a:p>
      </dgm:t>
    </dgm:pt>
    <dgm:pt modelId="{422AD004-5226-46B9-B8AB-5C24B766903A}">
      <dgm:prSet phldrT="[Text]"/>
      <dgm:spPr/>
      <dgm:t>
        <a:bodyPr/>
        <a:lstStyle/>
        <a:p>
          <a:r>
            <a:rPr lang="en-US" dirty="0"/>
            <a:t>Who is churning?</a:t>
          </a:r>
        </a:p>
      </dgm:t>
    </dgm:pt>
    <dgm:pt modelId="{68727499-BF2B-4A32-8BEE-38B2B825C119}" type="parTrans" cxnId="{43B85EAD-F10A-4393-A214-ED252058F547}">
      <dgm:prSet/>
      <dgm:spPr/>
      <dgm:t>
        <a:bodyPr/>
        <a:lstStyle/>
        <a:p>
          <a:endParaRPr lang="en-US"/>
        </a:p>
      </dgm:t>
    </dgm:pt>
    <dgm:pt modelId="{5D884E37-66BD-4027-9945-F995DF6DAD5B}" type="sibTrans" cxnId="{43B85EAD-F10A-4393-A214-ED252058F547}">
      <dgm:prSet/>
      <dgm:spPr/>
      <dgm:t>
        <a:bodyPr/>
        <a:lstStyle/>
        <a:p>
          <a:endParaRPr lang="en-US"/>
        </a:p>
      </dgm:t>
    </dgm:pt>
    <dgm:pt modelId="{D7ED995E-1BD8-4AB7-83E9-619DECB6380B}">
      <dgm:prSet/>
      <dgm:spPr/>
      <dgm:t>
        <a:bodyPr/>
        <a:lstStyle/>
        <a:p>
          <a:r>
            <a:rPr lang="en-US"/>
            <a:t>Filters, sliders, and multi-select options allow anyone to explore behavior at different levels of detail.</a:t>
          </a:r>
          <a:endParaRPr lang="en-US" dirty="0"/>
        </a:p>
      </dgm:t>
    </dgm:pt>
    <dgm:pt modelId="{CDCC031D-1085-4DF1-922A-6D03A0124288}" type="parTrans" cxnId="{41A4652A-4980-4224-87F7-A18EC7A58106}">
      <dgm:prSet/>
      <dgm:spPr/>
      <dgm:t>
        <a:bodyPr/>
        <a:lstStyle/>
        <a:p>
          <a:endParaRPr lang="en-US"/>
        </a:p>
      </dgm:t>
    </dgm:pt>
    <dgm:pt modelId="{89E059A5-E519-4D33-8F9B-C2FD586191C3}" type="sibTrans" cxnId="{41A4652A-4980-4224-87F7-A18EC7A58106}">
      <dgm:prSet/>
      <dgm:spPr/>
      <dgm:t>
        <a:bodyPr/>
        <a:lstStyle/>
        <a:p>
          <a:endParaRPr lang="en-US"/>
        </a:p>
      </dgm:t>
    </dgm:pt>
    <dgm:pt modelId="{0AC2F65D-3541-4834-B6CF-53167EC05480}">
      <dgm:prSet/>
      <dgm:spPr/>
      <dgm:t>
        <a:bodyPr/>
        <a:lstStyle/>
        <a:p>
          <a:r>
            <a:rPr lang="en-US"/>
            <a:t>Users immediately see how behavior shifts without rerunning code or refreshing the environment.</a:t>
          </a:r>
          <a:endParaRPr lang="en-US" dirty="0"/>
        </a:p>
      </dgm:t>
    </dgm:pt>
    <dgm:pt modelId="{4A8236B5-C324-4038-AA41-A971EB513BAE}" type="parTrans" cxnId="{1A4ECA93-1B1F-4DE3-AFDC-70F90624D2DD}">
      <dgm:prSet/>
      <dgm:spPr/>
      <dgm:t>
        <a:bodyPr/>
        <a:lstStyle/>
        <a:p>
          <a:endParaRPr lang="en-US"/>
        </a:p>
      </dgm:t>
    </dgm:pt>
    <dgm:pt modelId="{7CA7A171-A0B1-4AB9-B25C-36F8B7401C9E}" type="sibTrans" cxnId="{1A4ECA93-1B1F-4DE3-AFDC-70F90624D2DD}">
      <dgm:prSet/>
      <dgm:spPr/>
      <dgm:t>
        <a:bodyPr/>
        <a:lstStyle/>
        <a:p>
          <a:endParaRPr lang="en-US"/>
        </a:p>
      </dgm:t>
    </dgm:pt>
    <dgm:pt modelId="{3DD1C0BB-8347-4951-A3F2-783DE6FA41F2}">
      <dgm:prSet/>
      <dgm:spPr/>
      <dgm:t>
        <a:bodyPr/>
        <a:lstStyle/>
        <a:p>
          <a:r>
            <a:rPr lang="en-US"/>
            <a:t>Interpretability</a:t>
          </a:r>
          <a:endParaRPr lang="en-US" dirty="0"/>
        </a:p>
      </dgm:t>
    </dgm:pt>
    <dgm:pt modelId="{7B5B7B5B-9EE1-4E2C-BCE5-2345953B2D82}" type="parTrans" cxnId="{25E5E6FF-4D22-405F-B7EC-7A00144E72E1}">
      <dgm:prSet/>
      <dgm:spPr/>
      <dgm:t>
        <a:bodyPr/>
        <a:lstStyle/>
        <a:p>
          <a:endParaRPr lang="en-US"/>
        </a:p>
      </dgm:t>
    </dgm:pt>
    <dgm:pt modelId="{F3AB6213-D7A2-4AD9-A73B-31EF9F897C64}" type="sibTrans" cxnId="{25E5E6FF-4D22-405F-B7EC-7A00144E72E1}">
      <dgm:prSet/>
      <dgm:spPr/>
      <dgm:t>
        <a:bodyPr/>
        <a:lstStyle/>
        <a:p>
          <a:endParaRPr lang="en-US"/>
        </a:p>
      </dgm:t>
    </dgm:pt>
    <dgm:pt modelId="{98D04C97-A78B-43FB-9865-39B9346D667C}">
      <dgm:prSet/>
      <dgm:spPr/>
      <dgm:t>
        <a:bodyPr/>
        <a:lstStyle/>
        <a:p>
          <a:r>
            <a:rPr lang="en-US"/>
            <a:t>Clusters are labeled (A, B, C…) based on business importance to make results easy to understand.</a:t>
          </a:r>
          <a:endParaRPr lang="en-US" dirty="0"/>
        </a:p>
      </dgm:t>
    </dgm:pt>
    <dgm:pt modelId="{78C91B82-2E99-4C22-A9D3-D4208A31644A}" type="parTrans" cxnId="{632136D2-356F-4D17-BFCD-7D06BB2B8752}">
      <dgm:prSet/>
      <dgm:spPr/>
      <dgm:t>
        <a:bodyPr/>
        <a:lstStyle/>
        <a:p>
          <a:endParaRPr lang="en-US"/>
        </a:p>
      </dgm:t>
    </dgm:pt>
    <dgm:pt modelId="{00F7C361-D71E-40F1-87BE-FDCF1088B795}" type="sibTrans" cxnId="{632136D2-356F-4D17-BFCD-7D06BB2B8752}">
      <dgm:prSet/>
      <dgm:spPr/>
      <dgm:t>
        <a:bodyPr/>
        <a:lstStyle/>
        <a:p>
          <a:endParaRPr lang="en-US"/>
        </a:p>
      </dgm:t>
    </dgm:pt>
    <dgm:pt modelId="{08B13BB7-81E2-4A54-BF25-E571FF74A015}">
      <dgm:prSet/>
      <dgm:spPr/>
      <dgm:t>
        <a:bodyPr/>
        <a:lstStyle/>
        <a:p>
          <a:r>
            <a:rPr lang="en-US"/>
            <a:t>Which clusters are most valuable?</a:t>
          </a:r>
          <a:endParaRPr lang="en-US" dirty="0"/>
        </a:p>
      </dgm:t>
    </dgm:pt>
    <dgm:pt modelId="{557492F0-81BC-4143-AAC4-1A260DEFF28B}" type="parTrans" cxnId="{9162AD16-0A0E-4AFC-8D4D-E6DB69735C43}">
      <dgm:prSet/>
      <dgm:spPr/>
      <dgm:t>
        <a:bodyPr/>
        <a:lstStyle/>
        <a:p>
          <a:endParaRPr lang="en-US"/>
        </a:p>
      </dgm:t>
    </dgm:pt>
    <dgm:pt modelId="{B952042E-B0DF-4263-9EB2-8C53B4200530}" type="sibTrans" cxnId="{9162AD16-0A0E-4AFC-8D4D-E6DB69735C43}">
      <dgm:prSet/>
      <dgm:spPr/>
      <dgm:t>
        <a:bodyPr/>
        <a:lstStyle/>
        <a:p>
          <a:endParaRPr lang="en-US"/>
        </a:p>
      </dgm:t>
    </dgm:pt>
    <dgm:pt modelId="{C97A6844-D032-4899-9941-8F50CDA062F2}">
      <dgm:prSet/>
      <dgm:spPr/>
      <dgm:t>
        <a:bodyPr/>
        <a:lstStyle/>
        <a:p>
          <a:r>
            <a:rPr lang="en-US"/>
            <a:t>How do behavior patterns change across segments?</a:t>
          </a:r>
          <a:endParaRPr lang="en-US" dirty="0"/>
        </a:p>
      </dgm:t>
    </dgm:pt>
    <dgm:pt modelId="{635CEBE5-776E-4AA6-AD4F-A79415AEF87F}" type="parTrans" cxnId="{1CBED7F4-A466-4963-BEB5-F334FF79FC77}">
      <dgm:prSet/>
      <dgm:spPr/>
      <dgm:t>
        <a:bodyPr/>
        <a:lstStyle/>
        <a:p>
          <a:endParaRPr lang="en-US"/>
        </a:p>
      </dgm:t>
    </dgm:pt>
    <dgm:pt modelId="{692CD2CD-8590-4EA3-A414-4F09D70229C7}" type="sibTrans" cxnId="{1CBED7F4-A466-4963-BEB5-F334FF79FC77}">
      <dgm:prSet/>
      <dgm:spPr/>
      <dgm:t>
        <a:bodyPr/>
        <a:lstStyle/>
        <a:p>
          <a:endParaRPr lang="en-US"/>
        </a:p>
      </dgm:t>
    </dgm:pt>
    <dgm:pt modelId="{716EF3BA-B082-4955-98C1-35E3C14CA42F}" type="pres">
      <dgm:prSet presAssocID="{5E77445A-809B-4F82-8FA0-8EF89403EE4C}" presName="Name0" presStyleCnt="0">
        <dgm:presLayoutVars>
          <dgm:dir/>
          <dgm:animLvl val="lvl"/>
          <dgm:resizeHandles val="exact"/>
        </dgm:presLayoutVars>
      </dgm:prSet>
      <dgm:spPr/>
    </dgm:pt>
    <dgm:pt modelId="{6B2B6174-91A6-4B3E-8959-8FE7148DF7AC}" type="pres">
      <dgm:prSet presAssocID="{75112AC0-51E2-44B6-89D7-667402336158}" presName="composite" presStyleCnt="0"/>
      <dgm:spPr/>
    </dgm:pt>
    <dgm:pt modelId="{CB7BF90F-F5E2-45F9-9E68-3B1B2649AA25}" type="pres">
      <dgm:prSet presAssocID="{75112AC0-51E2-44B6-89D7-667402336158}" presName="parTx" presStyleLbl="alignNode1" presStyleIdx="0" presStyleCnt="4">
        <dgm:presLayoutVars>
          <dgm:chMax val="0"/>
          <dgm:chPref val="0"/>
        </dgm:presLayoutVars>
      </dgm:prSet>
      <dgm:spPr/>
    </dgm:pt>
    <dgm:pt modelId="{5034932D-A298-41E4-B63C-0466153416F4}" type="pres">
      <dgm:prSet presAssocID="{75112AC0-51E2-44B6-89D7-667402336158}" presName="desTx" presStyleLbl="alignAccFollowNode1" presStyleIdx="0" presStyleCnt="4">
        <dgm:presLayoutVars/>
      </dgm:prSet>
      <dgm:spPr/>
    </dgm:pt>
    <dgm:pt modelId="{329BC0E4-AE69-4339-B8C5-910F3C0C4058}" type="pres">
      <dgm:prSet presAssocID="{8477F3F7-44B6-4B59-9982-6BB64890E591}" presName="space" presStyleCnt="0"/>
      <dgm:spPr/>
    </dgm:pt>
    <dgm:pt modelId="{456D0E95-6E41-4A35-AA21-084FC8A7871D}" type="pres">
      <dgm:prSet presAssocID="{2B2DA142-A4EB-46F1-91BB-D0E18B093DDA}" presName="composite" presStyleCnt="0"/>
      <dgm:spPr/>
    </dgm:pt>
    <dgm:pt modelId="{4F190AD6-EEC2-4CB5-A519-17745CCEF188}" type="pres">
      <dgm:prSet presAssocID="{2B2DA142-A4EB-46F1-91BB-D0E18B093DDA}" presName="parTx" presStyleLbl="alignNode1" presStyleIdx="1" presStyleCnt="4">
        <dgm:presLayoutVars>
          <dgm:chMax val="0"/>
          <dgm:chPref val="0"/>
        </dgm:presLayoutVars>
      </dgm:prSet>
      <dgm:spPr/>
    </dgm:pt>
    <dgm:pt modelId="{6155CA9B-9A4A-419F-AE6C-2BEF2A364EC2}" type="pres">
      <dgm:prSet presAssocID="{2B2DA142-A4EB-46F1-91BB-D0E18B093DDA}" presName="desTx" presStyleLbl="alignAccFollowNode1" presStyleIdx="1" presStyleCnt="4">
        <dgm:presLayoutVars/>
      </dgm:prSet>
      <dgm:spPr/>
    </dgm:pt>
    <dgm:pt modelId="{63A6A13F-4EAD-4D2C-A746-270CED3AE0C6}" type="pres">
      <dgm:prSet presAssocID="{E09114AF-297D-4F0C-BB3B-3045C18394F9}" presName="space" presStyleCnt="0"/>
      <dgm:spPr/>
    </dgm:pt>
    <dgm:pt modelId="{3CEF886C-68F0-486A-BE70-81A55DF9D7DB}" type="pres">
      <dgm:prSet presAssocID="{3DD1C0BB-8347-4951-A3F2-783DE6FA41F2}" presName="composite" presStyleCnt="0"/>
      <dgm:spPr/>
    </dgm:pt>
    <dgm:pt modelId="{C3C5522C-CD4E-4301-BF05-8FF683111672}" type="pres">
      <dgm:prSet presAssocID="{3DD1C0BB-8347-4951-A3F2-783DE6FA41F2}" presName="parTx" presStyleLbl="alignNode1" presStyleIdx="2" presStyleCnt="4">
        <dgm:presLayoutVars>
          <dgm:chMax val="0"/>
          <dgm:chPref val="0"/>
        </dgm:presLayoutVars>
      </dgm:prSet>
      <dgm:spPr/>
    </dgm:pt>
    <dgm:pt modelId="{198BAFCE-7FB5-4ABB-9CDC-30FB5A5F68D7}" type="pres">
      <dgm:prSet presAssocID="{3DD1C0BB-8347-4951-A3F2-783DE6FA41F2}" presName="desTx" presStyleLbl="alignAccFollowNode1" presStyleIdx="2" presStyleCnt="4">
        <dgm:presLayoutVars/>
      </dgm:prSet>
      <dgm:spPr/>
    </dgm:pt>
    <dgm:pt modelId="{69091E78-DA7E-4F1A-BD7A-90A05ED71F68}" type="pres">
      <dgm:prSet presAssocID="{F3AB6213-D7A2-4AD9-A73B-31EF9F897C64}" presName="space" presStyleCnt="0"/>
      <dgm:spPr/>
    </dgm:pt>
    <dgm:pt modelId="{41CA4492-6553-4472-AE01-F76C39472CF7}" type="pres">
      <dgm:prSet presAssocID="{6C46072F-4B99-4FFB-9FE5-E1EF146539E5}" presName="composite" presStyleCnt="0"/>
      <dgm:spPr/>
    </dgm:pt>
    <dgm:pt modelId="{30B77600-1A39-43D3-AD05-C7270F21A9F5}" type="pres">
      <dgm:prSet presAssocID="{6C46072F-4B99-4FFB-9FE5-E1EF146539E5}" presName="parTx" presStyleLbl="alignNode1" presStyleIdx="3" presStyleCnt="4">
        <dgm:presLayoutVars>
          <dgm:chMax val="0"/>
          <dgm:chPref val="0"/>
        </dgm:presLayoutVars>
      </dgm:prSet>
      <dgm:spPr/>
    </dgm:pt>
    <dgm:pt modelId="{E03E6370-2C89-497D-805F-F80A479D6C0B}" type="pres">
      <dgm:prSet presAssocID="{6C46072F-4B99-4FFB-9FE5-E1EF146539E5}" presName="desTx" presStyleLbl="alignAccFollowNode1" presStyleIdx="3" presStyleCnt="4">
        <dgm:presLayoutVars/>
      </dgm:prSet>
      <dgm:spPr/>
    </dgm:pt>
  </dgm:ptLst>
  <dgm:cxnLst>
    <dgm:cxn modelId="{DDC1E905-F164-4FD9-8BCE-C4C788295454}" type="presOf" srcId="{08B13BB7-81E2-4A54-BF25-E571FF74A015}" destId="{E03E6370-2C89-497D-805F-F80A479D6C0B}" srcOrd="0" destOrd="1" presId="urn:microsoft.com/office/officeart/2016/7/layout/ChevronBlockProcess"/>
    <dgm:cxn modelId="{2F2C2F07-25B7-46FD-B759-39DC1137F942}" type="presOf" srcId="{0AC2F65D-3541-4834-B6CF-53167EC05480}" destId="{6155CA9B-9A4A-419F-AE6C-2BEF2A364EC2}" srcOrd="0" destOrd="1" presId="urn:microsoft.com/office/officeart/2016/7/layout/ChevronBlockProcess"/>
    <dgm:cxn modelId="{9162AD16-0A0E-4AFC-8D4D-E6DB69735C43}" srcId="{6C46072F-4B99-4FFB-9FE5-E1EF146539E5}" destId="{08B13BB7-81E2-4A54-BF25-E571FF74A015}" srcOrd="1" destOrd="0" parTransId="{557492F0-81BC-4143-AAC4-1A260DEFF28B}" sibTransId="{B952042E-B0DF-4263-9EB2-8C53B4200530}"/>
    <dgm:cxn modelId="{730E5E19-190B-454E-B7BD-E9FC28E670DE}" type="presOf" srcId="{422AD004-5226-46B9-B8AB-5C24B766903A}" destId="{E03E6370-2C89-497D-805F-F80A479D6C0B}" srcOrd="0" destOrd="0" presId="urn:microsoft.com/office/officeart/2016/7/layout/ChevronBlockProcess"/>
    <dgm:cxn modelId="{DCCCF31D-76F8-46AA-A862-14568EDE0DF9}" srcId="{5E77445A-809B-4F82-8FA0-8EF89403EE4C}" destId="{2B2DA142-A4EB-46F1-91BB-D0E18B093DDA}" srcOrd="1" destOrd="0" parTransId="{E0922E52-856E-4B76-9F84-7D5276EA5ED8}" sibTransId="{E09114AF-297D-4F0C-BB3B-3045C18394F9}"/>
    <dgm:cxn modelId="{46B0BC20-C222-41CF-87B7-E3A838329DEB}" type="presOf" srcId="{09D1B38D-71D9-43FE-B5B9-8DC5CDB0E386}" destId="{6155CA9B-9A4A-419F-AE6C-2BEF2A364EC2}" srcOrd="0" destOrd="0" presId="urn:microsoft.com/office/officeart/2016/7/layout/ChevronBlockProcess"/>
    <dgm:cxn modelId="{A7123D27-E161-4DC6-BA9A-4D21950A4160}" type="presOf" srcId="{A471883B-592A-4351-950A-EE606871BD09}" destId="{198BAFCE-7FB5-4ABB-9CDC-30FB5A5F68D7}" srcOrd="0" destOrd="0" presId="urn:microsoft.com/office/officeart/2016/7/layout/ChevronBlockProcess"/>
    <dgm:cxn modelId="{41A4652A-4980-4224-87F7-A18EC7A58106}" srcId="{75112AC0-51E2-44B6-89D7-667402336158}" destId="{D7ED995E-1BD8-4AB7-83E9-619DECB6380B}" srcOrd="1" destOrd="0" parTransId="{CDCC031D-1085-4DF1-922A-6D03A0124288}" sibTransId="{89E059A5-E519-4D33-8F9B-C2FD586191C3}"/>
    <dgm:cxn modelId="{41D3D834-F7AF-4ACE-9334-EB5FADBEBEAA}" type="presOf" srcId="{C97A6844-D032-4899-9941-8F50CDA062F2}" destId="{E03E6370-2C89-497D-805F-F80A479D6C0B}" srcOrd="0" destOrd="2" presId="urn:microsoft.com/office/officeart/2016/7/layout/ChevronBlockProcess"/>
    <dgm:cxn modelId="{D6D9CE39-558C-4112-8C3C-656941824DBE}" srcId="{75112AC0-51E2-44B6-89D7-667402336158}" destId="{586E778F-5355-4EF9-83A0-C7274D39BC84}" srcOrd="0" destOrd="0" parTransId="{7F890EA6-C4CD-4CB5-A8FE-794FC7016BE3}" sibTransId="{FB6E4597-E18A-40E1-AB42-6A84C7572234}"/>
    <dgm:cxn modelId="{142C5445-7D06-4D30-A4C4-46B4E1A1EF10}" type="presOf" srcId="{D7ED995E-1BD8-4AB7-83E9-619DECB6380B}" destId="{5034932D-A298-41E4-B63C-0466153416F4}" srcOrd="0" destOrd="1" presId="urn:microsoft.com/office/officeart/2016/7/layout/ChevronBlockProcess"/>
    <dgm:cxn modelId="{0AACD86A-4FA9-45C4-A70C-4C7A8406E9A4}" srcId="{2B2DA142-A4EB-46F1-91BB-D0E18B093DDA}" destId="{09D1B38D-71D9-43FE-B5B9-8DC5CDB0E386}" srcOrd="0" destOrd="0" parTransId="{D9235ED8-AD4F-498C-ACD0-C8C42D5CEEF7}" sibTransId="{7C4F4E30-C0A7-4333-89B1-1BF3B2E5D865}"/>
    <dgm:cxn modelId="{A39A3D4D-02B5-40FC-876B-1A96084025E7}" type="presOf" srcId="{3DD1C0BB-8347-4951-A3F2-783DE6FA41F2}" destId="{C3C5522C-CD4E-4301-BF05-8FF683111672}" srcOrd="0" destOrd="0" presId="urn:microsoft.com/office/officeart/2016/7/layout/ChevronBlockProcess"/>
    <dgm:cxn modelId="{BFD1F980-7E93-4630-8A98-4A1197361B59}" type="presOf" srcId="{98D04C97-A78B-43FB-9865-39B9346D667C}" destId="{198BAFCE-7FB5-4ABB-9CDC-30FB5A5F68D7}" srcOrd="0" destOrd="1" presId="urn:microsoft.com/office/officeart/2016/7/layout/ChevronBlockProcess"/>
    <dgm:cxn modelId="{1A4ECA93-1B1F-4DE3-AFDC-70F90624D2DD}" srcId="{2B2DA142-A4EB-46F1-91BB-D0E18B093DDA}" destId="{0AC2F65D-3541-4834-B6CF-53167EC05480}" srcOrd="1" destOrd="0" parTransId="{4A8236B5-C324-4038-AA41-A971EB513BAE}" sibTransId="{7CA7A171-A0B1-4AB9-B25C-36F8B7401C9E}"/>
    <dgm:cxn modelId="{DD6E5DA9-15A0-4C59-9C2D-D0E0C13F2D40}" type="presOf" srcId="{5E77445A-809B-4F82-8FA0-8EF89403EE4C}" destId="{716EF3BA-B082-4955-98C1-35E3C14CA42F}" srcOrd="0" destOrd="0" presId="urn:microsoft.com/office/officeart/2016/7/layout/ChevronBlockProcess"/>
    <dgm:cxn modelId="{43B85EAD-F10A-4393-A214-ED252058F547}" srcId="{6C46072F-4B99-4FFB-9FE5-E1EF146539E5}" destId="{422AD004-5226-46B9-B8AB-5C24B766903A}" srcOrd="0" destOrd="0" parTransId="{68727499-BF2B-4A32-8BEE-38B2B825C119}" sibTransId="{5D884E37-66BD-4027-9945-F995DF6DAD5B}"/>
    <dgm:cxn modelId="{EAF621C5-AD5C-4369-9DE1-B2645E8C0394}" srcId="{5E77445A-809B-4F82-8FA0-8EF89403EE4C}" destId="{75112AC0-51E2-44B6-89D7-667402336158}" srcOrd="0" destOrd="0" parTransId="{E46AB9E8-91C3-40A7-8564-CA236BEA0DD2}" sibTransId="{8477F3F7-44B6-4B59-9982-6BB64890E591}"/>
    <dgm:cxn modelId="{F5663BCA-0C3E-4AFB-B67B-F3164CAD1531}" type="presOf" srcId="{75112AC0-51E2-44B6-89D7-667402336158}" destId="{CB7BF90F-F5E2-45F9-9E68-3B1B2649AA25}" srcOrd="0" destOrd="0" presId="urn:microsoft.com/office/officeart/2016/7/layout/ChevronBlockProcess"/>
    <dgm:cxn modelId="{0FAD10CC-CE73-447A-ACE7-AAB5929427F2}" type="presOf" srcId="{2B2DA142-A4EB-46F1-91BB-D0E18B093DDA}" destId="{4F190AD6-EEC2-4CB5-A519-17745CCEF188}" srcOrd="0" destOrd="0" presId="urn:microsoft.com/office/officeart/2016/7/layout/ChevronBlockProcess"/>
    <dgm:cxn modelId="{2BEB17CC-BEFE-4F00-9DC3-6C63E3D1925E}" srcId="{3DD1C0BB-8347-4951-A3F2-783DE6FA41F2}" destId="{A471883B-592A-4351-950A-EE606871BD09}" srcOrd="0" destOrd="0" parTransId="{A0BD968B-3C44-45D3-9EC7-EFC31044E6A3}" sibTransId="{396DA7B3-01D2-454A-88BA-6A2AD5921225}"/>
    <dgm:cxn modelId="{632136D2-356F-4D17-BFCD-7D06BB2B8752}" srcId="{3DD1C0BB-8347-4951-A3F2-783DE6FA41F2}" destId="{98D04C97-A78B-43FB-9865-39B9346D667C}" srcOrd="1" destOrd="0" parTransId="{78C91B82-2E99-4C22-A9D3-D4208A31644A}" sibTransId="{00F7C361-D71E-40F1-87BE-FDCF1088B795}"/>
    <dgm:cxn modelId="{6BEF98EC-BBCB-40C5-ADC6-A23559EB0DED}" type="presOf" srcId="{586E778F-5355-4EF9-83A0-C7274D39BC84}" destId="{5034932D-A298-41E4-B63C-0466153416F4}" srcOrd="0" destOrd="0" presId="urn:microsoft.com/office/officeart/2016/7/layout/ChevronBlockProcess"/>
    <dgm:cxn modelId="{3BF42FF4-5372-402F-A096-688CF3E2519F}" type="presOf" srcId="{6C46072F-4B99-4FFB-9FE5-E1EF146539E5}" destId="{30B77600-1A39-43D3-AD05-C7270F21A9F5}" srcOrd="0" destOrd="0" presId="urn:microsoft.com/office/officeart/2016/7/layout/ChevronBlockProcess"/>
    <dgm:cxn modelId="{1CBED7F4-A466-4963-BEB5-F334FF79FC77}" srcId="{6C46072F-4B99-4FFB-9FE5-E1EF146539E5}" destId="{C97A6844-D032-4899-9941-8F50CDA062F2}" srcOrd="2" destOrd="0" parTransId="{635CEBE5-776E-4AA6-AD4F-A79415AEF87F}" sibTransId="{692CD2CD-8590-4EA3-A414-4F09D70229C7}"/>
    <dgm:cxn modelId="{CB7549FD-6099-4975-829E-E2EB7D6E7218}" srcId="{5E77445A-809B-4F82-8FA0-8EF89403EE4C}" destId="{6C46072F-4B99-4FFB-9FE5-E1EF146539E5}" srcOrd="3" destOrd="0" parTransId="{0046F2A1-6EE6-4624-8B3B-8B5282726378}" sibTransId="{3667C348-21D8-442F-BC61-B9DF63D42067}"/>
    <dgm:cxn modelId="{25E5E6FF-4D22-405F-B7EC-7A00144E72E1}" srcId="{5E77445A-809B-4F82-8FA0-8EF89403EE4C}" destId="{3DD1C0BB-8347-4951-A3F2-783DE6FA41F2}" srcOrd="2" destOrd="0" parTransId="{7B5B7B5B-9EE1-4E2C-BCE5-2345953B2D82}" sibTransId="{F3AB6213-D7A2-4AD9-A73B-31EF9F897C64}"/>
    <dgm:cxn modelId="{AE1F4CAF-B456-4AAD-B355-59019C0F3947}" type="presParOf" srcId="{716EF3BA-B082-4955-98C1-35E3C14CA42F}" destId="{6B2B6174-91A6-4B3E-8959-8FE7148DF7AC}" srcOrd="0" destOrd="0" presId="urn:microsoft.com/office/officeart/2016/7/layout/ChevronBlockProcess"/>
    <dgm:cxn modelId="{6C1E6332-F0BB-4792-82CF-AC1B37E86890}" type="presParOf" srcId="{6B2B6174-91A6-4B3E-8959-8FE7148DF7AC}" destId="{CB7BF90F-F5E2-45F9-9E68-3B1B2649AA25}" srcOrd="0" destOrd="0" presId="urn:microsoft.com/office/officeart/2016/7/layout/ChevronBlockProcess"/>
    <dgm:cxn modelId="{12D6427F-C668-4B50-BEC1-4A9E61A85312}" type="presParOf" srcId="{6B2B6174-91A6-4B3E-8959-8FE7148DF7AC}" destId="{5034932D-A298-41E4-B63C-0466153416F4}" srcOrd="1" destOrd="0" presId="urn:microsoft.com/office/officeart/2016/7/layout/ChevronBlockProcess"/>
    <dgm:cxn modelId="{2CB35E2A-9696-447E-A600-FBE02F5079D9}" type="presParOf" srcId="{716EF3BA-B082-4955-98C1-35E3C14CA42F}" destId="{329BC0E4-AE69-4339-B8C5-910F3C0C4058}" srcOrd="1" destOrd="0" presId="urn:microsoft.com/office/officeart/2016/7/layout/ChevronBlockProcess"/>
    <dgm:cxn modelId="{CE1AD996-4D27-4C2E-953D-CDAE0F83C890}" type="presParOf" srcId="{716EF3BA-B082-4955-98C1-35E3C14CA42F}" destId="{456D0E95-6E41-4A35-AA21-084FC8A7871D}" srcOrd="2" destOrd="0" presId="urn:microsoft.com/office/officeart/2016/7/layout/ChevronBlockProcess"/>
    <dgm:cxn modelId="{02DD8FF2-5734-4DB8-AA0D-2598EB6B8B8F}" type="presParOf" srcId="{456D0E95-6E41-4A35-AA21-084FC8A7871D}" destId="{4F190AD6-EEC2-4CB5-A519-17745CCEF188}" srcOrd="0" destOrd="0" presId="urn:microsoft.com/office/officeart/2016/7/layout/ChevronBlockProcess"/>
    <dgm:cxn modelId="{F75706C1-C60F-440F-8FEB-DA13BE981500}" type="presParOf" srcId="{456D0E95-6E41-4A35-AA21-084FC8A7871D}" destId="{6155CA9B-9A4A-419F-AE6C-2BEF2A364EC2}" srcOrd="1" destOrd="0" presId="urn:microsoft.com/office/officeart/2016/7/layout/ChevronBlockProcess"/>
    <dgm:cxn modelId="{FD7CE512-FB34-4F88-B445-5E7B1B7287A4}" type="presParOf" srcId="{716EF3BA-B082-4955-98C1-35E3C14CA42F}" destId="{63A6A13F-4EAD-4D2C-A746-270CED3AE0C6}" srcOrd="3" destOrd="0" presId="urn:microsoft.com/office/officeart/2016/7/layout/ChevronBlockProcess"/>
    <dgm:cxn modelId="{9241C7AF-39A8-4821-8658-C8C5BCD97BDA}" type="presParOf" srcId="{716EF3BA-B082-4955-98C1-35E3C14CA42F}" destId="{3CEF886C-68F0-486A-BE70-81A55DF9D7DB}" srcOrd="4" destOrd="0" presId="urn:microsoft.com/office/officeart/2016/7/layout/ChevronBlockProcess"/>
    <dgm:cxn modelId="{1CE26AFB-C87B-4C9C-9007-9D29FEC76911}" type="presParOf" srcId="{3CEF886C-68F0-486A-BE70-81A55DF9D7DB}" destId="{C3C5522C-CD4E-4301-BF05-8FF683111672}" srcOrd="0" destOrd="0" presId="urn:microsoft.com/office/officeart/2016/7/layout/ChevronBlockProcess"/>
    <dgm:cxn modelId="{B6937213-C544-429C-B137-23A0BCAF9884}" type="presParOf" srcId="{3CEF886C-68F0-486A-BE70-81A55DF9D7DB}" destId="{198BAFCE-7FB5-4ABB-9CDC-30FB5A5F68D7}" srcOrd="1" destOrd="0" presId="urn:microsoft.com/office/officeart/2016/7/layout/ChevronBlockProcess"/>
    <dgm:cxn modelId="{5D56B805-E543-4BAC-B201-58BC12459ED5}" type="presParOf" srcId="{716EF3BA-B082-4955-98C1-35E3C14CA42F}" destId="{69091E78-DA7E-4F1A-BD7A-90A05ED71F68}" srcOrd="5" destOrd="0" presId="urn:microsoft.com/office/officeart/2016/7/layout/ChevronBlockProcess"/>
    <dgm:cxn modelId="{165BB339-63C3-457A-A0C1-DD3C7CCE3F97}" type="presParOf" srcId="{716EF3BA-B082-4955-98C1-35E3C14CA42F}" destId="{41CA4492-6553-4472-AE01-F76C39472CF7}" srcOrd="6" destOrd="0" presId="urn:microsoft.com/office/officeart/2016/7/layout/ChevronBlockProcess"/>
    <dgm:cxn modelId="{7A25C2B4-6C87-49AA-9D2D-ECD70AD20723}" type="presParOf" srcId="{41CA4492-6553-4472-AE01-F76C39472CF7}" destId="{30B77600-1A39-43D3-AD05-C7270F21A9F5}" srcOrd="0" destOrd="0" presId="urn:microsoft.com/office/officeart/2016/7/layout/ChevronBlockProcess"/>
    <dgm:cxn modelId="{5EAF9E01-6E1A-41A5-AAE7-6414D6858B01}" type="presParOf" srcId="{41CA4492-6553-4472-AE01-F76C39472CF7}" destId="{E03E6370-2C89-497D-805F-F80A479D6C0B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BEC56B-407B-498B-8280-20FE6FCDC796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74CBADE-6405-436F-BCAB-29DC48053817}">
      <dgm:prSet/>
      <dgm:spPr/>
      <dgm:t>
        <a:bodyPr/>
        <a:lstStyle/>
        <a:p>
          <a:r>
            <a:rPr lang="en-US" dirty="0"/>
            <a:t>Libraries Used:</a:t>
          </a:r>
        </a:p>
      </dgm:t>
    </dgm:pt>
    <dgm:pt modelId="{072879C8-37EC-4770-9B42-31CD3DC46811}" type="parTrans" cxnId="{97573F28-950B-41D3-98BA-825A5C073E03}">
      <dgm:prSet/>
      <dgm:spPr/>
      <dgm:t>
        <a:bodyPr/>
        <a:lstStyle/>
        <a:p>
          <a:endParaRPr lang="en-US"/>
        </a:p>
      </dgm:t>
    </dgm:pt>
    <dgm:pt modelId="{915BD504-4A64-4441-B305-26957D007CC4}" type="sibTrans" cxnId="{97573F28-950B-41D3-98BA-825A5C073E03}">
      <dgm:prSet/>
      <dgm:spPr/>
      <dgm:t>
        <a:bodyPr/>
        <a:lstStyle/>
        <a:p>
          <a:endParaRPr lang="en-US"/>
        </a:p>
      </dgm:t>
    </dgm:pt>
    <dgm:pt modelId="{E02CC012-1610-4728-8F9A-8A62439C8E7E}">
      <dgm:prSet/>
      <dgm:spPr/>
      <dgm:t>
        <a:bodyPr/>
        <a:lstStyle/>
        <a:p>
          <a:r>
            <a:rPr lang="en-US" dirty="0"/>
            <a:t>matplotlib and seaborn for visualization</a:t>
          </a:r>
        </a:p>
      </dgm:t>
    </dgm:pt>
    <dgm:pt modelId="{DF131E9F-B6B2-44A9-943A-F18CEDB2A87F}" type="parTrans" cxnId="{74BD83F6-5D0D-4DB1-9011-B53CD5ADAE45}">
      <dgm:prSet/>
      <dgm:spPr/>
      <dgm:t>
        <a:bodyPr/>
        <a:lstStyle/>
        <a:p>
          <a:endParaRPr lang="en-US"/>
        </a:p>
      </dgm:t>
    </dgm:pt>
    <dgm:pt modelId="{F7D10EEB-49EC-46F9-B546-1794F28C6E8D}" type="sibTrans" cxnId="{74BD83F6-5D0D-4DB1-9011-B53CD5ADAE45}">
      <dgm:prSet/>
      <dgm:spPr/>
      <dgm:t>
        <a:bodyPr/>
        <a:lstStyle/>
        <a:p>
          <a:endParaRPr lang="en-US"/>
        </a:p>
      </dgm:t>
    </dgm:pt>
    <dgm:pt modelId="{814B5E01-87E7-421E-B285-52DB25783D06}">
      <dgm:prSet/>
      <dgm:spPr/>
      <dgm:t>
        <a:bodyPr/>
        <a:lstStyle/>
        <a:p>
          <a:r>
            <a:rPr lang="en-US" dirty="0"/>
            <a:t>Visualization Layer:</a:t>
          </a:r>
        </a:p>
      </dgm:t>
    </dgm:pt>
    <dgm:pt modelId="{5895F4C9-9C96-4F1E-9305-DF404F183291}" type="parTrans" cxnId="{33A458F6-A125-46AF-BB98-274085C1513A}">
      <dgm:prSet/>
      <dgm:spPr/>
      <dgm:t>
        <a:bodyPr/>
        <a:lstStyle/>
        <a:p>
          <a:endParaRPr lang="en-US"/>
        </a:p>
      </dgm:t>
    </dgm:pt>
    <dgm:pt modelId="{4A9BDC87-614A-49DA-8D6A-4ADF1B1A7A5D}" type="sibTrans" cxnId="{33A458F6-A125-46AF-BB98-274085C1513A}">
      <dgm:prSet/>
      <dgm:spPr/>
      <dgm:t>
        <a:bodyPr/>
        <a:lstStyle/>
        <a:p>
          <a:endParaRPr lang="en-US"/>
        </a:p>
      </dgm:t>
    </dgm:pt>
    <dgm:pt modelId="{D5251620-B743-4E4C-AA45-32659354A132}">
      <dgm:prSet/>
      <dgm:spPr/>
      <dgm:t>
        <a:bodyPr/>
        <a:lstStyle/>
        <a:p>
          <a:r>
            <a:rPr lang="en-US" dirty="0"/>
            <a:t>For Clustering (K-Means):</a:t>
          </a:r>
        </a:p>
      </dgm:t>
    </dgm:pt>
    <dgm:pt modelId="{BA844A08-67AC-4E18-A2FB-0167D5FA56BC}" type="parTrans" cxnId="{28D91A4A-320E-4AD3-A2DF-22CAEE2B87D3}">
      <dgm:prSet/>
      <dgm:spPr/>
      <dgm:t>
        <a:bodyPr/>
        <a:lstStyle/>
        <a:p>
          <a:endParaRPr lang="en-US"/>
        </a:p>
      </dgm:t>
    </dgm:pt>
    <dgm:pt modelId="{DAF53D93-FE38-4F53-A82F-C01A7AC16AB2}" type="sibTrans" cxnId="{28D91A4A-320E-4AD3-A2DF-22CAEE2B87D3}">
      <dgm:prSet/>
      <dgm:spPr/>
      <dgm:t>
        <a:bodyPr/>
        <a:lstStyle/>
        <a:p>
          <a:endParaRPr lang="en-US"/>
        </a:p>
      </dgm:t>
    </dgm:pt>
    <dgm:pt modelId="{6D1AF03B-CAE1-4760-B181-9AD6C17D1B74}">
      <dgm:prSet/>
      <dgm:spPr/>
      <dgm:t>
        <a:bodyPr/>
        <a:lstStyle/>
        <a:p>
          <a:r>
            <a:rPr lang="en-US" dirty="0"/>
            <a:t>Implemented sliders, dropdowns, multiselects, and date pickers</a:t>
          </a:r>
        </a:p>
      </dgm:t>
    </dgm:pt>
    <dgm:pt modelId="{9517A592-A3F8-4167-8357-6DF86C4B2720}" type="parTrans" cxnId="{6165390A-B0D7-4D2A-BF15-34AA9621FE12}">
      <dgm:prSet/>
      <dgm:spPr/>
      <dgm:t>
        <a:bodyPr/>
        <a:lstStyle/>
        <a:p>
          <a:endParaRPr lang="en-US"/>
        </a:p>
      </dgm:t>
    </dgm:pt>
    <dgm:pt modelId="{098FFEC5-B207-49EC-B3D0-C48D8243AA46}" type="sibTrans" cxnId="{6165390A-B0D7-4D2A-BF15-34AA9621FE12}">
      <dgm:prSet/>
      <dgm:spPr/>
      <dgm:t>
        <a:bodyPr/>
        <a:lstStyle/>
        <a:p>
          <a:endParaRPr lang="en-US"/>
        </a:p>
      </dgm:t>
    </dgm:pt>
    <dgm:pt modelId="{00B03FEE-C6B1-4E20-AB88-61FEF07DB5C3}">
      <dgm:prSet/>
      <dgm:spPr/>
      <dgm:t>
        <a:bodyPr/>
        <a:lstStyle/>
        <a:p>
          <a:r>
            <a:rPr lang="en-US" dirty="0"/>
            <a:t>Marimo for dynamic modeling</a:t>
          </a:r>
        </a:p>
      </dgm:t>
    </dgm:pt>
    <dgm:pt modelId="{C927FC9A-E442-404F-960E-B7A1F153383D}" type="parTrans" cxnId="{E5098069-575A-43E4-85EA-558DBAD826FA}">
      <dgm:prSet/>
      <dgm:spPr/>
      <dgm:t>
        <a:bodyPr/>
        <a:lstStyle/>
        <a:p>
          <a:endParaRPr lang="en-US"/>
        </a:p>
      </dgm:t>
    </dgm:pt>
    <dgm:pt modelId="{81DAC0F6-2731-45C3-A413-8EE85C08CE2B}" type="sibTrans" cxnId="{E5098069-575A-43E4-85EA-558DBAD826FA}">
      <dgm:prSet/>
      <dgm:spPr/>
      <dgm:t>
        <a:bodyPr/>
        <a:lstStyle/>
        <a:p>
          <a:endParaRPr lang="en-US"/>
        </a:p>
      </dgm:t>
    </dgm:pt>
    <dgm:pt modelId="{BAAE2E97-6F66-4D75-8D3B-8B0D30256A03}">
      <dgm:prSet/>
      <dgm:spPr/>
      <dgm:t>
        <a:bodyPr/>
        <a:lstStyle/>
        <a:p>
          <a:r>
            <a:rPr lang="en-US" dirty="0"/>
            <a:t>Built reusable plotting functions (radar, bar/</a:t>
          </a:r>
          <a:r>
            <a:rPr lang="en-US" dirty="0" err="1"/>
            <a:t>countplot</a:t>
          </a:r>
          <a:r>
            <a:rPr lang="en-US" dirty="0"/>
            <a:t>, scatter)</a:t>
          </a:r>
        </a:p>
      </dgm:t>
    </dgm:pt>
    <dgm:pt modelId="{F4C705D1-4FE3-45C8-AB46-4B20D4102E94}" type="parTrans" cxnId="{84C42959-358F-4415-80A7-AFCC6EBB57CC}">
      <dgm:prSet/>
      <dgm:spPr/>
      <dgm:t>
        <a:bodyPr/>
        <a:lstStyle/>
        <a:p>
          <a:endParaRPr lang="en-US"/>
        </a:p>
      </dgm:t>
    </dgm:pt>
    <dgm:pt modelId="{075AEB7B-9380-4B69-9D42-8BBA161ABBA6}" type="sibTrans" cxnId="{84C42959-358F-4415-80A7-AFCC6EBB57CC}">
      <dgm:prSet/>
      <dgm:spPr/>
      <dgm:t>
        <a:bodyPr/>
        <a:lstStyle/>
        <a:p>
          <a:endParaRPr lang="en-US"/>
        </a:p>
      </dgm:t>
    </dgm:pt>
    <dgm:pt modelId="{1A4AFACF-341B-4098-B1C8-1395B5022C65}">
      <dgm:prSet/>
      <dgm:spPr/>
      <dgm:t>
        <a:bodyPr/>
        <a:lstStyle/>
        <a:p>
          <a:r>
            <a:rPr lang="en-US" dirty="0"/>
            <a:t>Used custom palettes + cluster coloring to improve interpretation</a:t>
          </a:r>
        </a:p>
      </dgm:t>
    </dgm:pt>
    <dgm:pt modelId="{5E6B5A6D-0A1A-481A-88ED-9094287F8F80}" type="parTrans" cxnId="{EA32500B-E4C3-4882-B101-EDCC2D89FA77}">
      <dgm:prSet/>
      <dgm:spPr/>
      <dgm:t>
        <a:bodyPr/>
        <a:lstStyle/>
        <a:p>
          <a:endParaRPr lang="en-US"/>
        </a:p>
      </dgm:t>
    </dgm:pt>
    <dgm:pt modelId="{FC0B28A4-639B-41D4-B99C-291FD7B03E53}" type="sibTrans" cxnId="{EA32500B-E4C3-4882-B101-EDCC2D89FA77}">
      <dgm:prSet/>
      <dgm:spPr/>
      <dgm:t>
        <a:bodyPr/>
        <a:lstStyle/>
        <a:p>
          <a:endParaRPr lang="en-US"/>
        </a:p>
      </dgm:t>
    </dgm:pt>
    <dgm:pt modelId="{E6036B1D-7BC3-43C9-BE51-1C1B7ADD21A0}">
      <dgm:prSet/>
      <dgm:spPr/>
      <dgm:t>
        <a:bodyPr/>
        <a:lstStyle/>
        <a:p>
          <a:r>
            <a:rPr lang="en-US" dirty="0"/>
            <a:t>KPI cards computed and displayed (churn rate, active users, cutoff date)</a:t>
          </a:r>
        </a:p>
      </dgm:t>
    </dgm:pt>
    <dgm:pt modelId="{188D0C21-68A8-4545-A2B0-46BFC26662B6}" type="parTrans" cxnId="{B9F6B2E1-4ECC-404F-A4EB-28535A33CA03}">
      <dgm:prSet/>
      <dgm:spPr/>
      <dgm:t>
        <a:bodyPr/>
        <a:lstStyle/>
        <a:p>
          <a:endParaRPr lang="en-US"/>
        </a:p>
      </dgm:t>
    </dgm:pt>
    <dgm:pt modelId="{014EE870-0161-441D-B3A1-1B5EAFDA7858}" type="sibTrans" cxnId="{B9F6B2E1-4ECC-404F-A4EB-28535A33CA03}">
      <dgm:prSet/>
      <dgm:spPr/>
      <dgm:t>
        <a:bodyPr/>
        <a:lstStyle/>
        <a:p>
          <a:endParaRPr lang="en-US"/>
        </a:p>
      </dgm:t>
    </dgm:pt>
    <dgm:pt modelId="{88206EBE-7F6A-4F34-A4AE-8A1D9D5E48EB}">
      <dgm:prSet/>
      <dgm:spPr/>
      <dgm:t>
        <a:bodyPr/>
        <a:lstStyle/>
        <a:p>
          <a:r>
            <a:rPr lang="en-US" dirty="0"/>
            <a:t>Visuals reflect user-selected filters (date range, clusters, features)</a:t>
          </a:r>
        </a:p>
      </dgm:t>
    </dgm:pt>
    <dgm:pt modelId="{783D65D3-47F3-46BE-B098-939CA917CB01}" type="parTrans" cxnId="{6D3C23BE-3236-4543-9405-3E5DEDD4A48F}">
      <dgm:prSet/>
      <dgm:spPr/>
      <dgm:t>
        <a:bodyPr/>
        <a:lstStyle/>
        <a:p>
          <a:endParaRPr lang="en-US"/>
        </a:p>
      </dgm:t>
    </dgm:pt>
    <dgm:pt modelId="{388AB4B4-EE21-46B9-8E92-6F65408375BE}" type="sibTrans" cxnId="{6D3C23BE-3236-4543-9405-3E5DEDD4A48F}">
      <dgm:prSet/>
      <dgm:spPr/>
      <dgm:t>
        <a:bodyPr/>
        <a:lstStyle/>
        <a:p>
          <a:endParaRPr lang="en-US"/>
        </a:p>
      </dgm:t>
    </dgm:pt>
    <dgm:pt modelId="{64C8FB4C-4AB4-47B4-A334-F3263F34492F}">
      <dgm:prSet/>
      <dgm:spPr/>
      <dgm:t>
        <a:bodyPr/>
        <a:lstStyle/>
        <a:p>
          <a:r>
            <a:rPr lang="en-US"/>
            <a:t>Every UI change triggers reactive re-execution of dependent cells</a:t>
          </a:r>
          <a:endParaRPr lang="en-US" dirty="0"/>
        </a:p>
      </dgm:t>
    </dgm:pt>
    <dgm:pt modelId="{7595EE22-B4ED-4E9E-92DE-1E31990A1F73}" type="parTrans" cxnId="{05419152-8D82-4CFE-8900-66337703B1B4}">
      <dgm:prSet/>
      <dgm:spPr/>
      <dgm:t>
        <a:bodyPr/>
        <a:lstStyle/>
        <a:p>
          <a:endParaRPr lang="en-US"/>
        </a:p>
      </dgm:t>
    </dgm:pt>
    <dgm:pt modelId="{950391DB-E57C-478D-9CBE-5EBC8CDC5061}" type="sibTrans" cxnId="{05419152-8D82-4CFE-8900-66337703B1B4}">
      <dgm:prSet/>
      <dgm:spPr/>
      <dgm:t>
        <a:bodyPr/>
        <a:lstStyle/>
        <a:p>
          <a:endParaRPr lang="en-US"/>
        </a:p>
      </dgm:t>
    </dgm:pt>
    <dgm:pt modelId="{A825EF7C-04F4-4DDD-A097-B70A34B00B63}">
      <dgm:prSet/>
      <dgm:spPr/>
      <dgm:t>
        <a:bodyPr/>
        <a:lstStyle/>
        <a:p>
          <a:r>
            <a:rPr lang="en-US"/>
            <a:t>Integrated Matplotlib outputs directly inside Marimo (mo.ui.matplotlib())</a:t>
          </a:r>
          <a:endParaRPr lang="en-US" dirty="0"/>
        </a:p>
      </dgm:t>
    </dgm:pt>
    <dgm:pt modelId="{111E43C5-D0A4-407C-98D6-A7031B658AD5}" type="parTrans" cxnId="{42A4562C-7858-42A4-A994-459A823204E3}">
      <dgm:prSet/>
      <dgm:spPr/>
      <dgm:t>
        <a:bodyPr/>
        <a:lstStyle/>
        <a:p>
          <a:endParaRPr lang="en-US"/>
        </a:p>
      </dgm:t>
    </dgm:pt>
    <dgm:pt modelId="{C3F6B426-BF6C-492C-B752-91EF30B65439}" type="sibTrans" cxnId="{42A4562C-7858-42A4-A994-459A823204E3}">
      <dgm:prSet/>
      <dgm:spPr/>
      <dgm:t>
        <a:bodyPr/>
        <a:lstStyle/>
        <a:p>
          <a:endParaRPr lang="en-US"/>
        </a:p>
      </dgm:t>
    </dgm:pt>
    <dgm:pt modelId="{0CA05845-DE2F-46F9-A835-B713E871DF20}">
      <dgm:prSet/>
      <dgm:spPr/>
      <dgm:t>
        <a:bodyPr/>
        <a:lstStyle/>
        <a:p>
          <a:r>
            <a:rPr lang="en-US" dirty="0"/>
            <a:t>Created a full analytics workflow: parameter → computation → updated visual</a:t>
          </a:r>
        </a:p>
      </dgm:t>
    </dgm:pt>
    <dgm:pt modelId="{90FF18DA-20BD-4CC1-9688-81E86F5D354D}" type="parTrans" cxnId="{12D0322A-4B09-4E6D-8C81-887C912D27F0}">
      <dgm:prSet/>
      <dgm:spPr/>
      <dgm:t>
        <a:bodyPr/>
        <a:lstStyle/>
        <a:p>
          <a:endParaRPr lang="en-US"/>
        </a:p>
      </dgm:t>
    </dgm:pt>
    <dgm:pt modelId="{78AC9EB7-E986-4C11-A953-8ABBA0A1E2F7}" type="sibTrans" cxnId="{12D0322A-4B09-4E6D-8C81-887C912D27F0}">
      <dgm:prSet/>
      <dgm:spPr/>
      <dgm:t>
        <a:bodyPr/>
        <a:lstStyle/>
        <a:p>
          <a:endParaRPr lang="en-US"/>
        </a:p>
      </dgm:t>
    </dgm:pt>
    <dgm:pt modelId="{92AA1300-47E9-47E0-BFD2-A9F08AAB1DC8}" type="pres">
      <dgm:prSet presAssocID="{53BEC56B-407B-498B-8280-20FE6FCDC796}" presName="Name0" presStyleCnt="0">
        <dgm:presLayoutVars>
          <dgm:dir/>
          <dgm:animLvl val="lvl"/>
          <dgm:resizeHandles val="exact"/>
        </dgm:presLayoutVars>
      </dgm:prSet>
      <dgm:spPr/>
    </dgm:pt>
    <dgm:pt modelId="{CAF9BCD3-535E-49F3-BBA0-EF4C5553EB6D}" type="pres">
      <dgm:prSet presAssocID="{F74CBADE-6405-436F-BCAB-29DC48053817}" presName="composite" presStyleCnt="0"/>
      <dgm:spPr/>
    </dgm:pt>
    <dgm:pt modelId="{C16CA6E7-F152-43D8-A6E6-B0D582B67099}" type="pres">
      <dgm:prSet presAssocID="{F74CBADE-6405-436F-BCAB-29DC4805381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67D94BB-320D-4D23-9259-A983030BF0D2}" type="pres">
      <dgm:prSet presAssocID="{F74CBADE-6405-436F-BCAB-29DC48053817}" presName="desTx" presStyleLbl="alignAccFollowNode1" presStyleIdx="0" presStyleCnt="3">
        <dgm:presLayoutVars>
          <dgm:bulletEnabled val="1"/>
        </dgm:presLayoutVars>
      </dgm:prSet>
      <dgm:spPr/>
    </dgm:pt>
    <dgm:pt modelId="{2AFC4AB1-EB45-4978-A07D-5BAE1F5623FE}" type="pres">
      <dgm:prSet presAssocID="{915BD504-4A64-4441-B305-26957D007CC4}" presName="space" presStyleCnt="0"/>
      <dgm:spPr/>
    </dgm:pt>
    <dgm:pt modelId="{C70F016A-DA79-4E7D-9283-034DA5E2E369}" type="pres">
      <dgm:prSet presAssocID="{814B5E01-87E7-421E-B285-52DB25783D06}" presName="composite" presStyleCnt="0"/>
      <dgm:spPr/>
    </dgm:pt>
    <dgm:pt modelId="{7E26CFBE-6708-44CB-A310-E70DA79194EB}" type="pres">
      <dgm:prSet presAssocID="{814B5E01-87E7-421E-B285-52DB25783D0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823C95-797B-4BAA-913D-72454EEEBDAA}" type="pres">
      <dgm:prSet presAssocID="{814B5E01-87E7-421E-B285-52DB25783D06}" presName="desTx" presStyleLbl="alignAccFollowNode1" presStyleIdx="1" presStyleCnt="3">
        <dgm:presLayoutVars>
          <dgm:bulletEnabled val="1"/>
        </dgm:presLayoutVars>
      </dgm:prSet>
      <dgm:spPr/>
    </dgm:pt>
    <dgm:pt modelId="{998A7B95-8F30-4177-B2C9-E56A53FD0251}" type="pres">
      <dgm:prSet presAssocID="{4A9BDC87-614A-49DA-8D6A-4ADF1B1A7A5D}" presName="space" presStyleCnt="0"/>
      <dgm:spPr/>
    </dgm:pt>
    <dgm:pt modelId="{FA91AB51-C753-4728-9A28-2F14FFAD8DAD}" type="pres">
      <dgm:prSet presAssocID="{D5251620-B743-4E4C-AA45-32659354A132}" presName="composite" presStyleCnt="0"/>
      <dgm:spPr/>
    </dgm:pt>
    <dgm:pt modelId="{C7118C6C-B15B-4356-9774-D07B8A224F4C}" type="pres">
      <dgm:prSet presAssocID="{D5251620-B743-4E4C-AA45-32659354A13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E843382-5350-47B7-81F0-8588FC6A45FB}" type="pres">
      <dgm:prSet presAssocID="{D5251620-B743-4E4C-AA45-32659354A13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FF90103-0376-4E7F-8C5C-FD418D389A62}" type="presOf" srcId="{D5251620-B743-4E4C-AA45-32659354A132}" destId="{C7118C6C-B15B-4356-9774-D07B8A224F4C}" srcOrd="0" destOrd="0" presId="urn:microsoft.com/office/officeart/2005/8/layout/hList1"/>
    <dgm:cxn modelId="{68CA1008-DD64-420D-B2B5-0BB60E3DAE1A}" type="presOf" srcId="{1A4AFACF-341B-4098-B1C8-1395B5022C65}" destId="{D4823C95-797B-4BAA-913D-72454EEEBDAA}" srcOrd="0" destOrd="1" presId="urn:microsoft.com/office/officeart/2005/8/layout/hList1"/>
    <dgm:cxn modelId="{6165390A-B0D7-4D2A-BF15-34AA9621FE12}" srcId="{D5251620-B743-4E4C-AA45-32659354A132}" destId="{6D1AF03B-CAE1-4760-B181-9AD6C17D1B74}" srcOrd="0" destOrd="0" parTransId="{9517A592-A3F8-4167-8357-6DF86C4B2720}" sibTransId="{098FFEC5-B207-49EC-B3D0-C48D8243AA46}"/>
    <dgm:cxn modelId="{16FA9A0A-A884-4AA3-90D8-581654BA798C}" type="presOf" srcId="{0CA05845-DE2F-46F9-A835-B713E871DF20}" destId="{2E843382-5350-47B7-81F0-8588FC6A45FB}" srcOrd="0" destOrd="3" presId="urn:microsoft.com/office/officeart/2005/8/layout/hList1"/>
    <dgm:cxn modelId="{EA32500B-E4C3-4882-B101-EDCC2D89FA77}" srcId="{814B5E01-87E7-421E-B285-52DB25783D06}" destId="{1A4AFACF-341B-4098-B1C8-1395B5022C65}" srcOrd="1" destOrd="0" parTransId="{5E6B5A6D-0A1A-481A-88ED-9094287F8F80}" sibTransId="{FC0B28A4-639B-41D4-B99C-291FD7B03E53}"/>
    <dgm:cxn modelId="{9841861A-C2A9-4ABD-AEC4-3D1D9BA298A0}" type="presOf" srcId="{F74CBADE-6405-436F-BCAB-29DC48053817}" destId="{C16CA6E7-F152-43D8-A6E6-B0D582B67099}" srcOrd="0" destOrd="0" presId="urn:microsoft.com/office/officeart/2005/8/layout/hList1"/>
    <dgm:cxn modelId="{97573F28-950B-41D3-98BA-825A5C073E03}" srcId="{53BEC56B-407B-498B-8280-20FE6FCDC796}" destId="{F74CBADE-6405-436F-BCAB-29DC48053817}" srcOrd="0" destOrd="0" parTransId="{072879C8-37EC-4770-9B42-31CD3DC46811}" sibTransId="{915BD504-4A64-4441-B305-26957D007CC4}"/>
    <dgm:cxn modelId="{12D0322A-4B09-4E6D-8C81-887C912D27F0}" srcId="{D5251620-B743-4E4C-AA45-32659354A132}" destId="{0CA05845-DE2F-46F9-A835-B713E871DF20}" srcOrd="3" destOrd="0" parTransId="{90FF18DA-20BD-4CC1-9688-81E86F5D354D}" sibTransId="{78AC9EB7-E986-4C11-A953-8ABBA0A1E2F7}"/>
    <dgm:cxn modelId="{42A4562C-7858-42A4-A994-459A823204E3}" srcId="{D5251620-B743-4E4C-AA45-32659354A132}" destId="{A825EF7C-04F4-4DDD-A097-B70A34B00B63}" srcOrd="2" destOrd="0" parTransId="{111E43C5-D0A4-407C-98D6-A7031B658AD5}" sibTransId="{C3F6B426-BF6C-492C-B752-91EF30B65439}"/>
    <dgm:cxn modelId="{1A68BE45-15F9-423B-8B4D-793D8E1890D2}" type="presOf" srcId="{00B03FEE-C6B1-4E20-AB88-61FEF07DB5C3}" destId="{C67D94BB-320D-4D23-9259-A983030BF0D2}" srcOrd="0" destOrd="0" presId="urn:microsoft.com/office/officeart/2005/8/layout/hList1"/>
    <dgm:cxn modelId="{E5098069-575A-43E4-85EA-558DBAD826FA}" srcId="{F74CBADE-6405-436F-BCAB-29DC48053817}" destId="{00B03FEE-C6B1-4E20-AB88-61FEF07DB5C3}" srcOrd="0" destOrd="0" parTransId="{C927FC9A-E442-404F-960E-B7A1F153383D}" sibTransId="{81DAC0F6-2731-45C3-A413-8EE85C08CE2B}"/>
    <dgm:cxn modelId="{28D91A4A-320E-4AD3-A2DF-22CAEE2B87D3}" srcId="{53BEC56B-407B-498B-8280-20FE6FCDC796}" destId="{D5251620-B743-4E4C-AA45-32659354A132}" srcOrd="2" destOrd="0" parTransId="{BA844A08-67AC-4E18-A2FB-0167D5FA56BC}" sibTransId="{DAF53D93-FE38-4F53-A82F-C01A7AC16AB2}"/>
    <dgm:cxn modelId="{05419152-8D82-4CFE-8900-66337703B1B4}" srcId="{D5251620-B743-4E4C-AA45-32659354A132}" destId="{64C8FB4C-4AB4-47B4-A334-F3263F34492F}" srcOrd="1" destOrd="0" parTransId="{7595EE22-B4ED-4E9E-92DE-1E31990A1F73}" sibTransId="{950391DB-E57C-478D-9CBE-5EBC8CDC5061}"/>
    <dgm:cxn modelId="{84C42959-358F-4415-80A7-AFCC6EBB57CC}" srcId="{814B5E01-87E7-421E-B285-52DB25783D06}" destId="{BAAE2E97-6F66-4D75-8D3B-8B0D30256A03}" srcOrd="0" destOrd="0" parTransId="{F4C705D1-4FE3-45C8-AB46-4B20D4102E94}" sibTransId="{075AEB7B-9380-4B69-9D42-8BBA161ABBA6}"/>
    <dgm:cxn modelId="{4744AF84-915E-4066-AD9A-2F95FFCE2F99}" type="presOf" srcId="{814B5E01-87E7-421E-B285-52DB25783D06}" destId="{7E26CFBE-6708-44CB-A310-E70DA79194EB}" srcOrd="0" destOrd="0" presId="urn:microsoft.com/office/officeart/2005/8/layout/hList1"/>
    <dgm:cxn modelId="{DF683E8B-1634-46E0-A841-278F9D5E450B}" type="presOf" srcId="{88206EBE-7F6A-4F34-A4AE-8A1D9D5E48EB}" destId="{D4823C95-797B-4BAA-913D-72454EEEBDAA}" srcOrd="0" destOrd="3" presId="urn:microsoft.com/office/officeart/2005/8/layout/hList1"/>
    <dgm:cxn modelId="{FECFD790-1F00-42C8-9628-A18EA85E9D6D}" type="presOf" srcId="{6D1AF03B-CAE1-4760-B181-9AD6C17D1B74}" destId="{2E843382-5350-47B7-81F0-8588FC6A45FB}" srcOrd="0" destOrd="0" presId="urn:microsoft.com/office/officeart/2005/8/layout/hList1"/>
    <dgm:cxn modelId="{348D84A3-7E4A-408E-AD19-7354A80443B4}" type="presOf" srcId="{E6036B1D-7BC3-43C9-BE51-1C1B7ADD21A0}" destId="{D4823C95-797B-4BAA-913D-72454EEEBDAA}" srcOrd="0" destOrd="2" presId="urn:microsoft.com/office/officeart/2005/8/layout/hList1"/>
    <dgm:cxn modelId="{6D3C23BE-3236-4543-9405-3E5DEDD4A48F}" srcId="{814B5E01-87E7-421E-B285-52DB25783D06}" destId="{88206EBE-7F6A-4F34-A4AE-8A1D9D5E48EB}" srcOrd="3" destOrd="0" parTransId="{783D65D3-47F3-46BE-B098-939CA917CB01}" sibTransId="{388AB4B4-EE21-46B9-8E92-6F65408375BE}"/>
    <dgm:cxn modelId="{7A2F00D1-6E20-4B5B-BE66-DBEB51F8C698}" type="presOf" srcId="{E02CC012-1610-4728-8F9A-8A62439C8E7E}" destId="{C67D94BB-320D-4D23-9259-A983030BF0D2}" srcOrd="0" destOrd="1" presId="urn:microsoft.com/office/officeart/2005/8/layout/hList1"/>
    <dgm:cxn modelId="{F2298BD9-E645-4B39-AA41-CB149EC20F0D}" type="presOf" srcId="{64C8FB4C-4AB4-47B4-A334-F3263F34492F}" destId="{2E843382-5350-47B7-81F0-8588FC6A45FB}" srcOrd="0" destOrd="1" presId="urn:microsoft.com/office/officeart/2005/8/layout/hList1"/>
    <dgm:cxn modelId="{FA86C8DD-EF9E-4A6F-A2C5-A751BE32CAB0}" type="presOf" srcId="{A825EF7C-04F4-4DDD-A097-B70A34B00B63}" destId="{2E843382-5350-47B7-81F0-8588FC6A45FB}" srcOrd="0" destOrd="2" presId="urn:microsoft.com/office/officeart/2005/8/layout/hList1"/>
    <dgm:cxn modelId="{B9F6B2E1-4ECC-404F-A4EB-28535A33CA03}" srcId="{814B5E01-87E7-421E-B285-52DB25783D06}" destId="{E6036B1D-7BC3-43C9-BE51-1C1B7ADD21A0}" srcOrd="2" destOrd="0" parTransId="{188D0C21-68A8-4545-A2B0-46BFC26662B6}" sibTransId="{014EE870-0161-441D-B3A1-1B5EAFDA7858}"/>
    <dgm:cxn modelId="{2E9996E3-4B9A-41C1-8E55-01AFB0F28B5A}" type="presOf" srcId="{53BEC56B-407B-498B-8280-20FE6FCDC796}" destId="{92AA1300-47E9-47E0-BFD2-A9F08AAB1DC8}" srcOrd="0" destOrd="0" presId="urn:microsoft.com/office/officeart/2005/8/layout/hList1"/>
    <dgm:cxn modelId="{D4245DE6-00F4-47E9-BF02-DFCFF44A7C4F}" type="presOf" srcId="{BAAE2E97-6F66-4D75-8D3B-8B0D30256A03}" destId="{D4823C95-797B-4BAA-913D-72454EEEBDAA}" srcOrd="0" destOrd="0" presId="urn:microsoft.com/office/officeart/2005/8/layout/hList1"/>
    <dgm:cxn modelId="{33A458F6-A125-46AF-BB98-274085C1513A}" srcId="{53BEC56B-407B-498B-8280-20FE6FCDC796}" destId="{814B5E01-87E7-421E-B285-52DB25783D06}" srcOrd="1" destOrd="0" parTransId="{5895F4C9-9C96-4F1E-9305-DF404F183291}" sibTransId="{4A9BDC87-614A-49DA-8D6A-4ADF1B1A7A5D}"/>
    <dgm:cxn modelId="{74BD83F6-5D0D-4DB1-9011-B53CD5ADAE45}" srcId="{F74CBADE-6405-436F-BCAB-29DC48053817}" destId="{E02CC012-1610-4728-8F9A-8A62439C8E7E}" srcOrd="1" destOrd="0" parTransId="{DF131E9F-B6B2-44A9-943A-F18CEDB2A87F}" sibTransId="{F7D10EEB-49EC-46F9-B546-1794F28C6E8D}"/>
    <dgm:cxn modelId="{E3890938-249D-49F6-925A-6C93D518A629}" type="presParOf" srcId="{92AA1300-47E9-47E0-BFD2-A9F08AAB1DC8}" destId="{CAF9BCD3-535E-49F3-BBA0-EF4C5553EB6D}" srcOrd="0" destOrd="0" presId="urn:microsoft.com/office/officeart/2005/8/layout/hList1"/>
    <dgm:cxn modelId="{671EDC1A-D0A9-449D-9900-8AE4E796F07B}" type="presParOf" srcId="{CAF9BCD3-535E-49F3-BBA0-EF4C5553EB6D}" destId="{C16CA6E7-F152-43D8-A6E6-B0D582B67099}" srcOrd="0" destOrd="0" presId="urn:microsoft.com/office/officeart/2005/8/layout/hList1"/>
    <dgm:cxn modelId="{F7D7DDB3-4416-4EC4-9C99-94C245D234CB}" type="presParOf" srcId="{CAF9BCD3-535E-49F3-BBA0-EF4C5553EB6D}" destId="{C67D94BB-320D-4D23-9259-A983030BF0D2}" srcOrd="1" destOrd="0" presId="urn:microsoft.com/office/officeart/2005/8/layout/hList1"/>
    <dgm:cxn modelId="{F7193BE7-3F8A-40D8-8BED-C616CD208707}" type="presParOf" srcId="{92AA1300-47E9-47E0-BFD2-A9F08AAB1DC8}" destId="{2AFC4AB1-EB45-4978-A07D-5BAE1F5623FE}" srcOrd="1" destOrd="0" presId="urn:microsoft.com/office/officeart/2005/8/layout/hList1"/>
    <dgm:cxn modelId="{35C7665B-1868-4B0E-A4C6-370605041DFA}" type="presParOf" srcId="{92AA1300-47E9-47E0-BFD2-A9F08AAB1DC8}" destId="{C70F016A-DA79-4E7D-9283-034DA5E2E369}" srcOrd="2" destOrd="0" presId="urn:microsoft.com/office/officeart/2005/8/layout/hList1"/>
    <dgm:cxn modelId="{E93252BD-679C-4A66-8F11-E1A38668ABBE}" type="presParOf" srcId="{C70F016A-DA79-4E7D-9283-034DA5E2E369}" destId="{7E26CFBE-6708-44CB-A310-E70DA79194EB}" srcOrd="0" destOrd="0" presId="urn:microsoft.com/office/officeart/2005/8/layout/hList1"/>
    <dgm:cxn modelId="{949E7BFD-BFEF-4FA1-A91E-BCF6E37A600E}" type="presParOf" srcId="{C70F016A-DA79-4E7D-9283-034DA5E2E369}" destId="{D4823C95-797B-4BAA-913D-72454EEEBDAA}" srcOrd="1" destOrd="0" presId="urn:microsoft.com/office/officeart/2005/8/layout/hList1"/>
    <dgm:cxn modelId="{CEF979FC-1D62-43C3-8E84-5972B8AE31F6}" type="presParOf" srcId="{92AA1300-47E9-47E0-BFD2-A9F08AAB1DC8}" destId="{998A7B95-8F30-4177-B2C9-E56A53FD0251}" srcOrd="3" destOrd="0" presId="urn:microsoft.com/office/officeart/2005/8/layout/hList1"/>
    <dgm:cxn modelId="{8D224E17-DC7E-41DF-8261-75F924DC53DD}" type="presParOf" srcId="{92AA1300-47E9-47E0-BFD2-A9F08AAB1DC8}" destId="{FA91AB51-C753-4728-9A28-2F14FFAD8DAD}" srcOrd="4" destOrd="0" presId="urn:microsoft.com/office/officeart/2005/8/layout/hList1"/>
    <dgm:cxn modelId="{34512F80-A3B5-423D-9AD9-DD3E6C121F79}" type="presParOf" srcId="{FA91AB51-C753-4728-9A28-2F14FFAD8DAD}" destId="{C7118C6C-B15B-4356-9774-D07B8A224F4C}" srcOrd="0" destOrd="0" presId="urn:microsoft.com/office/officeart/2005/8/layout/hList1"/>
    <dgm:cxn modelId="{E961533F-643D-4842-9148-5841DAAC5DBB}" type="presParOf" srcId="{FA91AB51-C753-4728-9A28-2F14FFAD8DAD}" destId="{2E843382-5350-47B7-81F0-8588FC6A45F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FCDF848-2562-454E-BF03-2F1E0C78F217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15F7AD-4F2E-464C-AE20-2CE1CA176245}">
      <dgm:prSet/>
      <dgm:spPr/>
      <dgm:t>
        <a:bodyPr/>
        <a:lstStyle/>
        <a:p>
          <a:r>
            <a:rPr lang="en-US"/>
            <a:t>Fully Reactive Execution</a:t>
          </a:r>
        </a:p>
      </dgm:t>
    </dgm:pt>
    <dgm:pt modelId="{0BABC983-0A0A-41EE-A3B3-F35053DD2CAE}" type="parTrans" cxnId="{B5B3EDF9-E99F-4A02-968A-F9C4FC75B164}">
      <dgm:prSet/>
      <dgm:spPr/>
      <dgm:t>
        <a:bodyPr/>
        <a:lstStyle/>
        <a:p>
          <a:endParaRPr lang="en-US"/>
        </a:p>
      </dgm:t>
    </dgm:pt>
    <dgm:pt modelId="{B142ED18-3D0B-4DF6-B47F-45A2A77FD4F7}" type="sibTrans" cxnId="{B5B3EDF9-E99F-4A02-968A-F9C4FC75B164}">
      <dgm:prSet/>
      <dgm:spPr/>
      <dgm:t>
        <a:bodyPr/>
        <a:lstStyle/>
        <a:p>
          <a:endParaRPr lang="en-US"/>
        </a:p>
      </dgm:t>
    </dgm:pt>
    <dgm:pt modelId="{63B1176A-CB97-4337-8BCC-DDB22E06466E}">
      <dgm:prSet custT="1"/>
      <dgm:spPr/>
      <dgm:t>
        <a:bodyPr/>
        <a:lstStyle/>
        <a:p>
          <a:r>
            <a:rPr lang="en-US" sz="1300" dirty="0"/>
            <a:t>Marimo automatically re-executes only the cells affected by a user’s action.</a:t>
          </a:r>
        </a:p>
      </dgm:t>
    </dgm:pt>
    <dgm:pt modelId="{7EEF9804-0592-49B8-89FF-A36EDE5D12CF}" type="parTrans" cxnId="{25FF30D4-B027-4D06-BE51-93D68AD44F33}">
      <dgm:prSet/>
      <dgm:spPr/>
      <dgm:t>
        <a:bodyPr/>
        <a:lstStyle/>
        <a:p>
          <a:endParaRPr lang="en-US"/>
        </a:p>
      </dgm:t>
    </dgm:pt>
    <dgm:pt modelId="{3F410801-45FA-4901-8C21-0F2CA4DB91FC}" type="sibTrans" cxnId="{25FF30D4-B027-4D06-BE51-93D68AD44F33}">
      <dgm:prSet/>
      <dgm:spPr/>
      <dgm:t>
        <a:bodyPr/>
        <a:lstStyle/>
        <a:p>
          <a:endParaRPr lang="en-US"/>
        </a:p>
      </dgm:t>
    </dgm:pt>
    <dgm:pt modelId="{0CC48250-2CD8-4D85-989A-71FF8355FFFA}">
      <dgm:prSet custT="1"/>
      <dgm:spPr/>
      <dgm:t>
        <a:bodyPr/>
        <a:lstStyle/>
        <a:p>
          <a:r>
            <a:rPr lang="en-US" sz="1300" dirty="0"/>
            <a:t>When a slider, dropdown, or date filter changes, all relevant visuals, KPIs, and tables update instantly.</a:t>
          </a:r>
        </a:p>
      </dgm:t>
    </dgm:pt>
    <dgm:pt modelId="{D69343E8-27DB-4839-A369-D46B3745B131}" type="parTrans" cxnId="{F8DDF589-CF21-4C1D-8EEC-32A3369CA75B}">
      <dgm:prSet/>
      <dgm:spPr/>
      <dgm:t>
        <a:bodyPr/>
        <a:lstStyle/>
        <a:p>
          <a:endParaRPr lang="en-US"/>
        </a:p>
      </dgm:t>
    </dgm:pt>
    <dgm:pt modelId="{7856B9D4-DBC7-435E-B849-325ACE3B2053}" type="sibTrans" cxnId="{F8DDF589-CF21-4C1D-8EEC-32A3369CA75B}">
      <dgm:prSet/>
      <dgm:spPr/>
      <dgm:t>
        <a:bodyPr/>
        <a:lstStyle/>
        <a:p>
          <a:endParaRPr lang="en-US"/>
        </a:p>
      </dgm:t>
    </dgm:pt>
    <dgm:pt modelId="{76093CFC-4D71-472A-9522-CEE16756F784}">
      <dgm:prSet custT="1"/>
      <dgm:spPr/>
      <dgm:t>
        <a:bodyPr/>
        <a:lstStyle/>
        <a:p>
          <a:r>
            <a:rPr lang="en-US" sz="1300" dirty="0"/>
            <a:t>Enables real-time exploration without rerunning the notebook or refreshing the interface.</a:t>
          </a:r>
        </a:p>
      </dgm:t>
    </dgm:pt>
    <dgm:pt modelId="{FF55CF6D-65F1-4174-A0F7-9C2DA313CBDD}" type="parTrans" cxnId="{D237954F-849C-4715-A33B-E27682F02A17}">
      <dgm:prSet/>
      <dgm:spPr/>
      <dgm:t>
        <a:bodyPr/>
        <a:lstStyle/>
        <a:p>
          <a:endParaRPr lang="en-US"/>
        </a:p>
      </dgm:t>
    </dgm:pt>
    <dgm:pt modelId="{41E4051A-94DC-4DE3-AFE5-402660651F49}" type="sibTrans" cxnId="{D237954F-849C-4715-A33B-E27682F02A17}">
      <dgm:prSet/>
      <dgm:spPr/>
      <dgm:t>
        <a:bodyPr/>
        <a:lstStyle/>
        <a:p>
          <a:endParaRPr lang="en-US"/>
        </a:p>
      </dgm:t>
    </dgm:pt>
    <dgm:pt modelId="{76052B25-1151-4205-A500-518CCC7CB38B}">
      <dgm:prSet/>
      <dgm:spPr/>
      <dgm:t>
        <a:bodyPr/>
        <a:lstStyle/>
        <a:p>
          <a:r>
            <a:rPr lang="en-US"/>
            <a:t>Composable UI Components &amp; Live Data Interaction</a:t>
          </a:r>
        </a:p>
      </dgm:t>
    </dgm:pt>
    <dgm:pt modelId="{CEF8BB14-6049-4D6E-9A60-E2373FC05253}" type="parTrans" cxnId="{B8DB2CD7-F5C8-4BCD-A634-FB8D75C19010}">
      <dgm:prSet/>
      <dgm:spPr/>
      <dgm:t>
        <a:bodyPr/>
        <a:lstStyle/>
        <a:p>
          <a:endParaRPr lang="en-US"/>
        </a:p>
      </dgm:t>
    </dgm:pt>
    <dgm:pt modelId="{221D15FC-A5C7-4EDA-BD10-A08BE73DE173}" type="sibTrans" cxnId="{B8DB2CD7-F5C8-4BCD-A634-FB8D75C19010}">
      <dgm:prSet/>
      <dgm:spPr/>
      <dgm:t>
        <a:bodyPr/>
        <a:lstStyle/>
        <a:p>
          <a:endParaRPr lang="en-US"/>
        </a:p>
      </dgm:t>
    </dgm:pt>
    <dgm:pt modelId="{5F93BCEB-7C64-4914-BC8B-330F6FB2D510}">
      <dgm:prSet custT="1"/>
      <dgm:spPr/>
      <dgm:t>
        <a:bodyPr/>
        <a:lstStyle/>
        <a:p>
          <a:r>
            <a:rPr lang="en-US" sz="1300" dirty="0"/>
            <a:t>Marimo provides a rich set of widgets—sliders, multiselects, dropdowns, date pickers, buttons—allowing flexible user input.</a:t>
          </a:r>
        </a:p>
      </dgm:t>
    </dgm:pt>
    <dgm:pt modelId="{BE5C4279-FA04-4E72-9587-CEB40E8C945A}" type="parTrans" cxnId="{ED51080A-5C9B-4DB2-9023-98E989926C1B}">
      <dgm:prSet/>
      <dgm:spPr/>
      <dgm:t>
        <a:bodyPr/>
        <a:lstStyle/>
        <a:p>
          <a:endParaRPr lang="en-US"/>
        </a:p>
      </dgm:t>
    </dgm:pt>
    <dgm:pt modelId="{0A28F216-6894-4C0A-B451-B5E53B1CE047}" type="sibTrans" cxnId="{ED51080A-5C9B-4DB2-9023-98E989926C1B}">
      <dgm:prSet/>
      <dgm:spPr/>
      <dgm:t>
        <a:bodyPr/>
        <a:lstStyle/>
        <a:p>
          <a:endParaRPr lang="en-US"/>
        </a:p>
      </dgm:t>
    </dgm:pt>
    <dgm:pt modelId="{309236CF-9F2E-49E8-93A9-F2350C63D5B3}">
      <dgm:prSet custT="1"/>
      <dgm:spPr/>
      <dgm:t>
        <a:bodyPr/>
        <a:lstStyle/>
        <a:p>
          <a:r>
            <a:rPr lang="en-US" sz="1300" dirty="0"/>
            <a:t>These controls make the dashboard accessible to non-technical users while still driving complex ML operations in the background.</a:t>
          </a:r>
        </a:p>
      </dgm:t>
    </dgm:pt>
    <dgm:pt modelId="{019D827E-10A2-4CB3-A293-61522F1BC03C}" type="parTrans" cxnId="{7F9024F2-69D6-44BE-94E0-A32C06241164}">
      <dgm:prSet/>
      <dgm:spPr/>
      <dgm:t>
        <a:bodyPr/>
        <a:lstStyle/>
        <a:p>
          <a:endParaRPr lang="en-US"/>
        </a:p>
      </dgm:t>
    </dgm:pt>
    <dgm:pt modelId="{448A7BA4-5ABA-47E2-A6AC-FE6C7CE65134}" type="sibTrans" cxnId="{7F9024F2-69D6-44BE-94E0-A32C06241164}">
      <dgm:prSet/>
      <dgm:spPr/>
      <dgm:t>
        <a:bodyPr/>
        <a:lstStyle/>
        <a:p>
          <a:endParaRPr lang="en-US"/>
        </a:p>
      </dgm:t>
    </dgm:pt>
    <dgm:pt modelId="{E5232FB9-D320-41B0-B100-8C1D92FAAE07}">
      <dgm:prSet custT="1"/>
      <dgm:spPr/>
      <dgm:t>
        <a:bodyPr/>
        <a:lstStyle/>
        <a:p>
          <a:r>
            <a:rPr lang="en-US" sz="1300" dirty="0"/>
            <a:t>Every interaction (changing clusters, churn threshold, selected features, etc.) triggers immediate recalculation of metrics and charts.</a:t>
          </a:r>
        </a:p>
      </dgm:t>
    </dgm:pt>
    <dgm:pt modelId="{58624AA1-165A-482D-9A0A-4A9374CD24D0}" type="parTrans" cxnId="{95BF218C-1E9D-484B-A5D0-991BC2FBDF49}">
      <dgm:prSet/>
      <dgm:spPr/>
      <dgm:t>
        <a:bodyPr/>
        <a:lstStyle/>
        <a:p>
          <a:endParaRPr lang="en-US"/>
        </a:p>
      </dgm:t>
    </dgm:pt>
    <dgm:pt modelId="{DCA7433E-346D-43D7-A65C-12A6B4E65FE2}" type="sibTrans" cxnId="{95BF218C-1E9D-484B-A5D0-991BC2FBDF49}">
      <dgm:prSet/>
      <dgm:spPr/>
      <dgm:t>
        <a:bodyPr/>
        <a:lstStyle/>
        <a:p>
          <a:endParaRPr lang="en-US"/>
        </a:p>
      </dgm:t>
    </dgm:pt>
    <dgm:pt modelId="{29AD6571-8E06-4F9A-87D1-7687B1438437}">
      <dgm:prSet/>
      <dgm:spPr/>
      <dgm:t>
        <a:bodyPr/>
        <a:lstStyle/>
        <a:p>
          <a:r>
            <a:rPr lang="en-US"/>
            <a:t>Seamless Integration With Matplotlib</a:t>
          </a:r>
        </a:p>
      </dgm:t>
    </dgm:pt>
    <dgm:pt modelId="{D33D8F8B-83C9-453D-A3D8-9482548D0169}" type="parTrans" cxnId="{D85CF9ED-FAD2-48DB-9058-3E09B24D6F43}">
      <dgm:prSet/>
      <dgm:spPr/>
      <dgm:t>
        <a:bodyPr/>
        <a:lstStyle/>
        <a:p>
          <a:endParaRPr lang="en-US"/>
        </a:p>
      </dgm:t>
    </dgm:pt>
    <dgm:pt modelId="{122A4F88-6FEE-4253-A2D3-DB17C7503C3F}" type="sibTrans" cxnId="{D85CF9ED-FAD2-48DB-9058-3E09B24D6F43}">
      <dgm:prSet/>
      <dgm:spPr/>
      <dgm:t>
        <a:bodyPr/>
        <a:lstStyle/>
        <a:p>
          <a:endParaRPr lang="en-US"/>
        </a:p>
      </dgm:t>
    </dgm:pt>
    <dgm:pt modelId="{DB35802C-E47D-4F32-8DF9-0EC43D515728}">
      <dgm:prSet custT="1"/>
      <dgm:spPr/>
      <dgm:t>
        <a:bodyPr/>
        <a:lstStyle/>
        <a:p>
          <a:r>
            <a:rPr lang="en-US" sz="1300" dirty="0"/>
            <a:t>Although Matplotlib is a static visualization library, Marimo renders each figure cleanly and responsively inside the dashboard.</a:t>
          </a:r>
        </a:p>
      </dgm:t>
    </dgm:pt>
    <dgm:pt modelId="{8FD60BBD-D77A-45FC-9D20-91496E96A851}" type="parTrans" cxnId="{C3E1C8A5-3E5B-4BA8-8FCD-2C970F830C02}">
      <dgm:prSet/>
      <dgm:spPr/>
      <dgm:t>
        <a:bodyPr/>
        <a:lstStyle/>
        <a:p>
          <a:endParaRPr lang="en-US"/>
        </a:p>
      </dgm:t>
    </dgm:pt>
    <dgm:pt modelId="{D17F6682-F208-4EF0-97E5-FB1779B85C45}" type="sibTrans" cxnId="{C3E1C8A5-3E5B-4BA8-8FCD-2C970F830C02}">
      <dgm:prSet/>
      <dgm:spPr/>
      <dgm:t>
        <a:bodyPr/>
        <a:lstStyle/>
        <a:p>
          <a:endParaRPr lang="en-US"/>
        </a:p>
      </dgm:t>
    </dgm:pt>
    <dgm:pt modelId="{66F40CD3-6420-4420-A5B3-5D017B261CCD}">
      <dgm:prSet custT="1"/>
      <dgm:spPr/>
      <dgm:t>
        <a:bodyPr/>
        <a:lstStyle/>
        <a:p>
          <a:r>
            <a:rPr lang="en-US" sz="1300" dirty="0"/>
            <a:t>Custom Matplotlib charts—such as our radar plots, scatter plots, and </a:t>
          </a:r>
          <a:r>
            <a:rPr lang="en-US" sz="1300" dirty="0" err="1"/>
            <a:t>countplots</a:t>
          </a:r>
          <a:r>
            <a:rPr lang="en-US" sz="1300" dirty="0"/>
            <a:t>—are displayed through </a:t>
          </a:r>
          <a:r>
            <a:rPr lang="en-US" sz="1300" dirty="0" err="1"/>
            <a:t>mo.ui.matplotlib</a:t>
          </a:r>
          <a:r>
            <a:rPr lang="en-US" sz="1300" dirty="0"/>
            <a:t>(fig).</a:t>
          </a:r>
        </a:p>
      </dgm:t>
    </dgm:pt>
    <dgm:pt modelId="{B5EC941E-86C2-43C3-B69F-4BC3011C1AE3}" type="parTrans" cxnId="{99C97341-242C-4FD6-B892-0FFB73AB21D5}">
      <dgm:prSet/>
      <dgm:spPr/>
      <dgm:t>
        <a:bodyPr/>
        <a:lstStyle/>
        <a:p>
          <a:endParaRPr lang="en-US"/>
        </a:p>
      </dgm:t>
    </dgm:pt>
    <dgm:pt modelId="{0F5F5121-2DD4-4F22-BB43-3922017CF6B4}" type="sibTrans" cxnId="{99C97341-242C-4FD6-B892-0FFB73AB21D5}">
      <dgm:prSet/>
      <dgm:spPr/>
      <dgm:t>
        <a:bodyPr/>
        <a:lstStyle/>
        <a:p>
          <a:endParaRPr lang="en-US"/>
        </a:p>
      </dgm:t>
    </dgm:pt>
    <dgm:pt modelId="{F13F65EA-BE07-410A-A978-C0434E3F8D31}">
      <dgm:prSet custT="1"/>
      <dgm:spPr/>
      <dgm:t>
        <a:bodyPr/>
        <a:lstStyle/>
        <a:p>
          <a:r>
            <a:rPr lang="en-US" sz="1300"/>
            <a:t>The integration allows us to keep familiar Python plotting workflows while benefiting from Marimo’s interactive layer.</a:t>
          </a:r>
        </a:p>
      </dgm:t>
    </dgm:pt>
    <dgm:pt modelId="{E6E6DB0C-B6A6-4EEB-8C5B-E37487CA4A7B}" type="parTrans" cxnId="{26D100D2-741E-4C6F-BA1D-28CDEA4A6DD3}">
      <dgm:prSet/>
      <dgm:spPr/>
      <dgm:t>
        <a:bodyPr/>
        <a:lstStyle/>
        <a:p>
          <a:endParaRPr lang="en-US"/>
        </a:p>
      </dgm:t>
    </dgm:pt>
    <dgm:pt modelId="{9A780EFC-98C9-4CD6-A588-3F142BECEFFF}" type="sibTrans" cxnId="{26D100D2-741E-4C6F-BA1D-28CDEA4A6DD3}">
      <dgm:prSet/>
      <dgm:spPr/>
      <dgm:t>
        <a:bodyPr/>
        <a:lstStyle/>
        <a:p>
          <a:endParaRPr lang="en-US"/>
        </a:p>
      </dgm:t>
    </dgm:pt>
    <dgm:pt modelId="{58795994-0726-4DC1-9F4D-70491FA0B4B9}">
      <dgm:prSet custT="1"/>
      <dgm:spPr/>
      <dgm:t>
        <a:bodyPr/>
        <a:lstStyle/>
        <a:p>
          <a:r>
            <a:rPr lang="en-US" sz="1300" dirty="0"/>
            <a:t>The result: traditional Matplotlib visuals behave as reactive dashboard components, updating whenever filters or parameters change.</a:t>
          </a:r>
        </a:p>
      </dgm:t>
    </dgm:pt>
    <dgm:pt modelId="{429D2E46-CA71-4164-AA2E-7B585DB327FF}" type="parTrans" cxnId="{5F5F5B32-B604-4A05-A349-D53FA594BF13}">
      <dgm:prSet/>
      <dgm:spPr/>
      <dgm:t>
        <a:bodyPr/>
        <a:lstStyle/>
        <a:p>
          <a:endParaRPr lang="en-US"/>
        </a:p>
      </dgm:t>
    </dgm:pt>
    <dgm:pt modelId="{FA25150B-4FD5-487D-857A-67792D881078}" type="sibTrans" cxnId="{5F5F5B32-B604-4A05-A349-D53FA594BF13}">
      <dgm:prSet/>
      <dgm:spPr/>
      <dgm:t>
        <a:bodyPr/>
        <a:lstStyle/>
        <a:p>
          <a:endParaRPr lang="en-US"/>
        </a:p>
      </dgm:t>
    </dgm:pt>
    <dgm:pt modelId="{7B093806-E82F-4DC2-BFAA-AD641C853FC7}" type="pres">
      <dgm:prSet presAssocID="{6FCDF848-2562-454E-BF03-2F1E0C78F217}" presName="Name0" presStyleCnt="0">
        <dgm:presLayoutVars>
          <dgm:dir/>
          <dgm:animLvl val="lvl"/>
          <dgm:resizeHandles val="exact"/>
        </dgm:presLayoutVars>
      </dgm:prSet>
      <dgm:spPr/>
    </dgm:pt>
    <dgm:pt modelId="{1708E344-94E7-4AE6-8007-50F72E55BC54}" type="pres">
      <dgm:prSet presAssocID="{3015F7AD-4F2E-464C-AE20-2CE1CA176245}" presName="composite" presStyleCnt="0"/>
      <dgm:spPr/>
    </dgm:pt>
    <dgm:pt modelId="{9E7C829A-F55C-4187-9ADB-CADAAFB666B1}" type="pres">
      <dgm:prSet presAssocID="{3015F7AD-4F2E-464C-AE20-2CE1CA176245}" presName="parTx" presStyleLbl="alignNode1" presStyleIdx="0" presStyleCnt="3">
        <dgm:presLayoutVars>
          <dgm:chMax val="0"/>
          <dgm:chPref val="0"/>
        </dgm:presLayoutVars>
      </dgm:prSet>
      <dgm:spPr/>
    </dgm:pt>
    <dgm:pt modelId="{995A644F-ED8A-47A0-B70F-6B16CEEF16A9}" type="pres">
      <dgm:prSet presAssocID="{3015F7AD-4F2E-464C-AE20-2CE1CA176245}" presName="desTx" presStyleLbl="alignAccFollowNode1" presStyleIdx="0" presStyleCnt="3">
        <dgm:presLayoutVars/>
      </dgm:prSet>
      <dgm:spPr/>
    </dgm:pt>
    <dgm:pt modelId="{8AB6822E-5814-4EBA-86EF-C665872BCF2B}" type="pres">
      <dgm:prSet presAssocID="{B142ED18-3D0B-4DF6-B47F-45A2A77FD4F7}" presName="space" presStyleCnt="0"/>
      <dgm:spPr/>
    </dgm:pt>
    <dgm:pt modelId="{3A4DA817-1365-471A-8430-A38B112F85B2}" type="pres">
      <dgm:prSet presAssocID="{76052B25-1151-4205-A500-518CCC7CB38B}" presName="composite" presStyleCnt="0"/>
      <dgm:spPr/>
    </dgm:pt>
    <dgm:pt modelId="{DE133631-10C8-4F8E-AA3E-0E782B9D0492}" type="pres">
      <dgm:prSet presAssocID="{76052B25-1151-4205-A500-518CCC7CB38B}" presName="parTx" presStyleLbl="alignNode1" presStyleIdx="1" presStyleCnt="3">
        <dgm:presLayoutVars>
          <dgm:chMax val="0"/>
          <dgm:chPref val="0"/>
        </dgm:presLayoutVars>
      </dgm:prSet>
      <dgm:spPr/>
    </dgm:pt>
    <dgm:pt modelId="{51F20448-8103-4C29-9A86-99D3FE1BFEED}" type="pres">
      <dgm:prSet presAssocID="{76052B25-1151-4205-A500-518CCC7CB38B}" presName="desTx" presStyleLbl="alignAccFollowNode1" presStyleIdx="1" presStyleCnt="3">
        <dgm:presLayoutVars/>
      </dgm:prSet>
      <dgm:spPr/>
    </dgm:pt>
    <dgm:pt modelId="{B34B4B9D-F11B-4AE7-904A-D17C41D195D2}" type="pres">
      <dgm:prSet presAssocID="{221D15FC-A5C7-4EDA-BD10-A08BE73DE173}" presName="space" presStyleCnt="0"/>
      <dgm:spPr/>
    </dgm:pt>
    <dgm:pt modelId="{A985C5BE-E3B2-4BE2-8A11-35414723AE3D}" type="pres">
      <dgm:prSet presAssocID="{29AD6571-8E06-4F9A-87D1-7687B1438437}" presName="composite" presStyleCnt="0"/>
      <dgm:spPr/>
    </dgm:pt>
    <dgm:pt modelId="{1057BA06-1EE7-4949-A9B7-1E88BB909DD1}" type="pres">
      <dgm:prSet presAssocID="{29AD6571-8E06-4F9A-87D1-7687B1438437}" presName="parTx" presStyleLbl="alignNode1" presStyleIdx="2" presStyleCnt="3">
        <dgm:presLayoutVars>
          <dgm:chMax val="0"/>
          <dgm:chPref val="0"/>
        </dgm:presLayoutVars>
      </dgm:prSet>
      <dgm:spPr/>
    </dgm:pt>
    <dgm:pt modelId="{82C78B7B-4571-451F-872C-BAD2BA1176A3}" type="pres">
      <dgm:prSet presAssocID="{29AD6571-8E06-4F9A-87D1-7687B1438437}" presName="desTx" presStyleLbl="alignAccFollowNode1" presStyleIdx="2" presStyleCnt="3">
        <dgm:presLayoutVars/>
      </dgm:prSet>
      <dgm:spPr/>
    </dgm:pt>
  </dgm:ptLst>
  <dgm:cxnLst>
    <dgm:cxn modelId="{ED51080A-5C9B-4DB2-9023-98E989926C1B}" srcId="{76052B25-1151-4205-A500-518CCC7CB38B}" destId="{5F93BCEB-7C64-4914-BC8B-330F6FB2D510}" srcOrd="0" destOrd="0" parTransId="{BE5C4279-FA04-4E72-9587-CEB40E8C945A}" sibTransId="{0A28F216-6894-4C0A-B451-B5E53B1CE047}"/>
    <dgm:cxn modelId="{F3E7AF0D-EF53-4761-8F24-07877DE4DE06}" type="presOf" srcId="{E5232FB9-D320-41B0-B100-8C1D92FAAE07}" destId="{51F20448-8103-4C29-9A86-99D3FE1BFEED}" srcOrd="0" destOrd="2" presId="urn:microsoft.com/office/officeart/2016/7/layout/ChevronBlockProcess"/>
    <dgm:cxn modelId="{BB4AE624-E4FD-482A-A7BD-27FCA5316142}" type="presOf" srcId="{0CC48250-2CD8-4D85-989A-71FF8355FFFA}" destId="{995A644F-ED8A-47A0-B70F-6B16CEEF16A9}" srcOrd="0" destOrd="1" presId="urn:microsoft.com/office/officeart/2016/7/layout/ChevronBlockProcess"/>
    <dgm:cxn modelId="{9358B630-E521-4E93-BF7A-0106C4BE3B80}" type="presOf" srcId="{76093CFC-4D71-472A-9522-CEE16756F784}" destId="{995A644F-ED8A-47A0-B70F-6B16CEEF16A9}" srcOrd="0" destOrd="2" presId="urn:microsoft.com/office/officeart/2016/7/layout/ChevronBlockProcess"/>
    <dgm:cxn modelId="{6395D530-B3A6-48AC-B44C-43383BE795FD}" type="presOf" srcId="{DB35802C-E47D-4F32-8DF9-0EC43D515728}" destId="{82C78B7B-4571-451F-872C-BAD2BA1176A3}" srcOrd="0" destOrd="0" presId="urn:microsoft.com/office/officeart/2016/7/layout/ChevronBlockProcess"/>
    <dgm:cxn modelId="{C479AE31-A8FC-4CF9-9166-4AEF13E29C0D}" type="presOf" srcId="{63B1176A-CB97-4337-8BCC-DDB22E06466E}" destId="{995A644F-ED8A-47A0-B70F-6B16CEEF16A9}" srcOrd="0" destOrd="0" presId="urn:microsoft.com/office/officeart/2016/7/layout/ChevronBlockProcess"/>
    <dgm:cxn modelId="{5F5F5B32-B604-4A05-A349-D53FA594BF13}" srcId="{29AD6571-8E06-4F9A-87D1-7687B1438437}" destId="{58795994-0726-4DC1-9F4D-70491FA0B4B9}" srcOrd="3" destOrd="0" parTransId="{429D2E46-CA71-4164-AA2E-7B585DB327FF}" sibTransId="{FA25150B-4FD5-487D-857A-67792D881078}"/>
    <dgm:cxn modelId="{99C97341-242C-4FD6-B892-0FFB73AB21D5}" srcId="{29AD6571-8E06-4F9A-87D1-7687B1438437}" destId="{66F40CD3-6420-4420-A5B3-5D017B261CCD}" srcOrd="1" destOrd="0" parTransId="{B5EC941E-86C2-43C3-B69F-4BC3011C1AE3}" sibTransId="{0F5F5121-2DD4-4F22-BB43-3922017CF6B4}"/>
    <dgm:cxn modelId="{4630E443-271F-4940-BB0D-A805AE57F53B}" type="presOf" srcId="{6FCDF848-2562-454E-BF03-2F1E0C78F217}" destId="{7B093806-E82F-4DC2-BFAA-AD641C853FC7}" srcOrd="0" destOrd="0" presId="urn:microsoft.com/office/officeart/2016/7/layout/ChevronBlockProcess"/>
    <dgm:cxn modelId="{33BDCA64-3F73-4E10-8EE1-E44A609FED33}" type="presOf" srcId="{76052B25-1151-4205-A500-518CCC7CB38B}" destId="{DE133631-10C8-4F8E-AA3E-0E782B9D0492}" srcOrd="0" destOrd="0" presId="urn:microsoft.com/office/officeart/2016/7/layout/ChevronBlockProcess"/>
    <dgm:cxn modelId="{D237954F-849C-4715-A33B-E27682F02A17}" srcId="{3015F7AD-4F2E-464C-AE20-2CE1CA176245}" destId="{76093CFC-4D71-472A-9522-CEE16756F784}" srcOrd="2" destOrd="0" parTransId="{FF55CF6D-65F1-4174-A0F7-9C2DA313CBDD}" sibTransId="{41E4051A-94DC-4DE3-AFE5-402660651F49}"/>
    <dgm:cxn modelId="{CC42667F-FFF3-4711-85E7-06427E2DEBC2}" type="presOf" srcId="{309236CF-9F2E-49E8-93A9-F2350C63D5B3}" destId="{51F20448-8103-4C29-9A86-99D3FE1BFEED}" srcOrd="0" destOrd="1" presId="urn:microsoft.com/office/officeart/2016/7/layout/ChevronBlockProcess"/>
    <dgm:cxn modelId="{D74D4482-15DC-464B-A535-229EB0D399FB}" type="presOf" srcId="{58795994-0726-4DC1-9F4D-70491FA0B4B9}" destId="{82C78B7B-4571-451F-872C-BAD2BA1176A3}" srcOrd="0" destOrd="3" presId="urn:microsoft.com/office/officeart/2016/7/layout/ChevronBlockProcess"/>
    <dgm:cxn modelId="{F8DDF589-CF21-4C1D-8EEC-32A3369CA75B}" srcId="{3015F7AD-4F2E-464C-AE20-2CE1CA176245}" destId="{0CC48250-2CD8-4D85-989A-71FF8355FFFA}" srcOrd="1" destOrd="0" parTransId="{D69343E8-27DB-4839-A369-D46B3745B131}" sibTransId="{7856B9D4-DBC7-435E-B849-325ACE3B2053}"/>
    <dgm:cxn modelId="{95BF218C-1E9D-484B-A5D0-991BC2FBDF49}" srcId="{76052B25-1151-4205-A500-518CCC7CB38B}" destId="{E5232FB9-D320-41B0-B100-8C1D92FAAE07}" srcOrd="2" destOrd="0" parTransId="{58624AA1-165A-482D-9A0A-4A9374CD24D0}" sibTransId="{DCA7433E-346D-43D7-A65C-12A6B4E65FE2}"/>
    <dgm:cxn modelId="{8D31998E-D152-49BF-9E97-865696F8A727}" type="presOf" srcId="{5F93BCEB-7C64-4914-BC8B-330F6FB2D510}" destId="{51F20448-8103-4C29-9A86-99D3FE1BFEED}" srcOrd="0" destOrd="0" presId="urn:microsoft.com/office/officeart/2016/7/layout/ChevronBlockProcess"/>
    <dgm:cxn modelId="{A180A292-839C-490A-A01E-05CC5B4691FC}" type="presOf" srcId="{3015F7AD-4F2E-464C-AE20-2CE1CA176245}" destId="{9E7C829A-F55C-4187-9ADB-CADAAFB666B1}" srcOrd="0" destOrd="0" presId="urn:microsoft.com/office/officeart/2016/7/layout/ChevronBlockProcess"/>
    <dgm:cxn modelId="{E86B7495-7897-49EC-8505-5B8574963390}" type="presOf" srcId="{66F40CD3-6420-4420-A5B3-5D017B261CCD}" destId="{82C78B7B-4571-451F-872C-BAD2BA1176A3}" srcOrd="0" destOrd="1" presId="urn:microsoft.com/office/officeart/2016/7/layout/ChevronBlockProcess"/>
    <dgm:cxn modelId="{C3E1C8A5-3E5B-4BA8-8FCD-2C970F830C02}" srcId="{29AD6571-8E06-4F9A-87D1-7687B1438437}" destId="{DB35802C-E47D-4F32-8DF9-0EC43D515728}" srcOrd="0" destOrd="0" parTransId="{8FD60BBD-D77A-45FC-9D20-91496E96A851}" sibTransId="{D17F6682-F208-4EF0-97E5-FB1779B85C45}"/>
    <dgm:cxn modelId="{3BAB6EC9-D6FE-41AB-BD0E-F8CAA0BE142C}" type="presOf" srcId="{F13F65EA-BE07-410A-A978-C0434E3F8D31}" destId="{82C78B7B-4571-451F-872C-BAD2BA1176A3}" srcOrd="0" destOrd="2" presId="urn:microsoft.com/office/officeart/2016/7/layout/ChevronBlockProcess"/>
    <dgm:cxn modelId="{26D100D2-741E-4C6F-BA1D-28CDEA4A6DD3}" srcId="{29AD6571-8E06-4F9A-87D1-7687B1438437}" destId="{F13F65EA-BE07-410A-A978-C0434E3F8D31}" srcOrd="2" destOrd="0" parTransId="{E6E6DB0C-B6A6-4EEB-8C5B-E37487CA4A7B}" sibTransId="{9A780EFC-98C9-4CD6-A588-3F142BECEFFF}"/>
    <dgm:cxn modelId="{25FF30D4-B027-4D06-BE51-93D68AD44F33}" srcId="{3015F7AD-4F2E-464C-AE20-2CE1CA176245}" destId="{63B1176A-CB97-4337-8BCC-DDB22E06466E}" srcOrd="0" destOrd="0" parTransId="{7EEF9804-0592-49B8-89FF-A36EDE5D12CF}" sibTransId="{3F410801-45FA-4901-8C21-0F2CA4DB91FC}"/>
    <dgm:cxn modelId="{B8DB2CD7-F5C8-4BCD-A634-FB8D75C19010}" srcId="{6FCDF848-2562-454E-BF03-2F1E0C78F217}" destId="{76052B25-1151-4205-A500-518CCC7CB38B}" srcOrd="1" destOrd="0" parTransId="{CEF8BB14-6049-4D6E-9A60-E2373FC05253}" sibTransId="{221D15FC-A5C7-4EDA-BD10-A08BE73DE173}"/>
    <dgm:cxn modelId="{EBACA8EC-DCAE-44F5-9541-268787A8D7C3}" type="presOf" srcId="{29AD6571-8E06-4F9A-87D1-7687B1438437}" destId="{1057BA06-1EE7-4949-A9B7-1E88BB909DD1}" srcOrd="0" destOrd="0" presId="urn:microsoft.com/office/officeart/2016/7/layout/ChevronBlockProcess"/>
    <dgm:cxn modelId="{D85CF9ED-FAD2-48DB-9058-3E09B24D6F43}" srcId="{6FCDF848-2562-454E-BF03-2F1E0C78F217}" destId="{29AD6571-8E06-4F9A-87D1-7687B1438437}" srcOrd="2" destOrd="0" parTransId="{D33D8F8B-83C9-453D-A3D8-9482548D0169}" sibTransId="{122A4F88-6FEE-4253-A2D3-DB17C7503C3F}"/>
    <dgm:cxn modelId="{7F9024F2-69D6-44BE-94E0-A32C06241164}" srcId="{76052B25-1151-4205-A500-518CCC7CB38B}" destId="{309236CF-9F2E-49E8-93A9-F2350C63D5B3}" srcOrd="1" destOrd="0" parTransId="{019D827E-10A2-4CB3-A293-61522F1BC03C}" sibTransId="{448A7BA4-5ABA-47E2-A6AC-FE6C7CE65134}"/>
    <dgm:cxn modelId="{B5B3EDF9-E99F-4A02-968A-F9C4FC75B164}" srcId="{6FCDF848-2562-454E-BF03-2F1E0C78F217}" destId="{3015F7AD-4F2E-464C-AE20-2CE1CA176245}" srcOrd="0" destOrd="0" parTransId="{0BABC983-0A0A-41EE-A3B3-F35053DD2CAE}" sibTransId="{B142ED18-3D0B-4DF6-B47F-45A2A77FD4F7}"/>
    <dgm:cxn modelId="{AB0760CA-BA0F-4D53-A023-B84F8A707986}" type="presParOf" srcId="{7B093806-E82F-4DC2-BFAA-AD641C853FC7}" destId="{1708E344-94E7-4AE6-8007-50F72E55BC54}" srcOrd="0" destOrd="0" presId="urn:microsoft.com/office/officeart/2016/7/layout/ChevronBlockProcess"/>
    <dgm:cxn modelId="{CEE1968A-9A78-4252-A098-2FEA30C01707}" type="presParOf" srcId="{1708E344-94E7-4AE6-8007-50F72E55BC54}" destId="{9E7C829A-F55C-4187-9ADB-CADAAFB666B1}" srcOrd="0" destOrd="0" presId="urn:microsoft.com/office/officeart/2016/7/layout/ChevronBlockProcess"/>
    <dgm:cxn modelId="{3B0BDF63-239D-4760-96C9-1E5EAC1D3D6F}" type="presParOf" srcId="{1708E344-94E7-4AE6-8007-50F72E55BC54}" destId="{995A644F-ED8A-47A0-B70F-6B16CEEF16A9}" srcOrd="1" destOrd="0" presId="urn:microsoft.com/office/officeart/2016/7/layout/ChevronBlockProcess"/>
    <dgm:cxn modelId="{F95B2185-1803-4116-9FE4-DB7F6D3D4535}" type="presParOf" srcId="{7B093806-E82F-4DC2-BFAA-AD641C853FC7}" destId="{8AB6822E-5814-4EBA-86EF-C665872BCF2B}" srcOrd="1" destOrd="0" presId="urn:microsoft.com/office/officeart/2016/7/layout/ChevronBlockProcess"/>
    <dgm:cxn modelId="{D53B2019-F0C5-4FBC-94DB-73EB710D1507}" type="presParOf" srcId="{7B093806-E82F-4DC2-BFAA-AD641C853FC7}" destId="{3A4DA817-1365-471A-8430-A38B112F85B2}" srcOrd="2" destOrd="0" presId="urn:microsoft.com/office/officeart/2016/7/layout/ChevronBlockProcess"/>
    <dgm:cxn modelId="{6D379F24-9BE3-47F2-8464-53E6C460286F}" type="presParOf" srcId="{3A4DA817-1365-471A-8430-A38B112F85B2}" destId="{DE133631-10C8-4F8E-AA3E-0E782B9D0492}" srcOrd="0" destOrd="0" presId="urn:microsoft.com/office/officeart/2016/7/layout/ChevronBlockProcess"/>
    <dgm:cxn modelId="{C4BD4F70-9CD5-4214-93F0-679777E0CF2C}" type="presParOf" srcId="{3A4DA817-1365-471A-8430-A38B112F85B2}" destId="{51F20448-8103-4C29-9A86-99D3FE1BFEED}" srcOrd="1" destOrd="0" presId="urn:microsoft.com/office/officeart/2016/7/layout/ChevronBlockProcess"/>
    <dgm:cxn modelId="{98C3DAAE-D3BE-4CF2-9090-169663D0EF83}" type="presParOf" srcId="{7B093806-E82F-4DC2-BFAA-AD641C853FC7}" destId="{B34B4B9D-F11B-4AE7-904A-D17C41D195D2}" srcOrd="3" destOrd="0" presId="urn:microsoft.com/office/officeart/2016/7/layout/ChevronBlockProcess"/>
    <dgm:cxn modelId="{A1B06ABE-8BFB-4F17-84A1-F352258EA32A}" type="presParOf" srcId="{7B093806-E82F-4DC2-BFAA-AD641C853FC7}" destId="{A985C5BE-E3B2-4BE2-8A11-35414723AE3D}" srcOrd="4" destOrd="0" presId="urn:microsoft.com/office/officeart/2016/7/layout/ChevronBlockProcess"/>
    <dgm:cxn modelId="{9BA583B2-64B7-4F08-BAAD-C0106781CF04}" type="presParOf" srcId="{A985C5BE-E3B2-4BE2-8A11-35414723AE3D}" destId="{1057BA06-1EE7-4949-A9B7-1E88BB909DD1}" srcOrd="0" destOrd="0" presId="urn:microsoft.com/office/officeart/2016/7/layout/ChevronBlockProcess"/>
    <dgm:cxn modelId="{BCB2F17D-CAA4-4B15-A2FD-7CE9DD071211}" type="presParOf" srcId="{A985C5BE-E3B2-4BE2-8A11-35414723AE3D}" destId="{82C78B7B-4571-451F-872C-BAD2BA1176A3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2A720-E42E-4ED1-A29B-FA8D088FEE5D}">
      <dsp:nvSpPr>
        <dsp:cNvPr id="0" name=""/>
        <dsp:cNvSpPr/>
      </dsp:nvSpPr>
      <dsp:spPr>
        <a:xfrm>
          <a:off x="5070556" y="2186105"/>
          <a:ext cx="749814" cy="8060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4907" y="0"/>
              </a:lnTo>
              <a:lnTo>
                <a:pt x="374907" y="806050"/>
              </a:lnTo>
              <a:lnTo>
                <a:pt x="749814" y="80605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9EE8C2-5C29-482D-B315-CA558AD6FAA6}">
      <dsp:nvSpPr>
        <dsp:cNvPr id="0" name=""/>
        <dsp:cNvSpPr/>
      </dsp:nvSpPr>
      <dsp:spPr>
        <a:xfrm>
          <a:off x="5070556" y="1380054"/>
          <a:ext cx="749814" cy="806050"/>
        </a:xfrm>
        <a:custGeom>
          <a:avLst/>
          <a:gdLst/>
          <a:ahLst/>
          <a:cxnLst/>
          <a:rect l="0" t="0" r="0" b="0"/>
          <a:pathLst>
            <a:path>
              <a:moveTo>
                <a:pt x="0" y="806050"/>
              </a:moveTo>
              <a:lnTo>
                <a:pt x="374907" y="806050"/>
              </a:lnTo>
              <a:lnTo>
                <a:pt x="374907" y="0"/>
              </a:lnTo>
              <a:lnTo>
                <a:pt x="74981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5D8831-5CC4-4667-AEF3-E423CE778F2A}">
      <dsp:nvSpPr>
        <dsp:cNvPr id="0" name=""/>
        <dsp:cNvSpPr/>
      </dsp:nvSpPr>
      <dsp:spPr>
        <a:xfrm>
          <a:off x="1321482" y="2269"/>
          <a:ext cx="3749074" cy="11434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99 Little Orange operates a </a:t>
          </a:r>
          <a:r>
            <a:rPr lang="en-US" sz="2000" b="1" kern="1200"/>
            <a:t>two-sided marketplace</a:t>
          </a:r>
          <a:r>
            <a:rPr lang="en-US" sz="2000" kern="1200"/>
            <a:t> connecting </a:t>
          </a:r>
          <a:r>
            <a:rPr lang="en-US" sz="2000" b="1" kern="1200"/>
            <a:t>drivers (supply)</a:t>
          </a:r>
          <a:r>
            <a:rPr lang="en-US" sz="2000" kern="1200"/>
            <a:t> and </a:t>
          </a:r>
          <a:r>
            <a:rPr lang="en-US" sz="2000" b="1" kern="1200"/>
            <a:t>passengers (demand)</a:t>
          </a:r>
          <a:r>
            <a:rPr lang="en-US" sz="2000" kern="1200"/>
            <a:t>.</a:t>
          </a:r>
        </a:p>
      </dsp:txBody>
      <dsp:txXfrm>
        <a:off x="1321482" y="2269"/>
        <a:ext cx="3749074" cy="1143467"/>
      </dsp:txXfrm>
    </dsp:sp>
    <dsp:sp modelId="{22E80DA2-5DFC-41C9-9E37-66C1CFD59317}">
      <dsp:nvSpPr>
        <dsp:cNvPr id="0" name=""/>
        <dsp:cNvSpPr/>
      </dsp:nvSpPr>
      <dsp:spPr>
        <a:xfrm>
          <a:off x="1321482" y="1614371"/>
          <a:ext cx="3749074" cy="11434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main goal of the business is to keep the marketplace balanced: </a:t>
          </a:r>
        </a:p>
      </dsp:txBody>
      <dsp:txXfrm>
        <a:off x="1321482" y="1614371"/>
        <a:ext cx="3749074" cy="1143467"/>
      </dsp:txXfrm>
    </dsp:sp>
    <dsp:sp modelId="{9416045D-663D-465A-AF91-DB0F8092DDCE}">
      <dsp:nvSpPr>
        <dsp:cNvPr id="0" name=""/>
        <dsp:cNvSpPr/>
      </dsp:nvSpPr>
      <dsp:spPr>
        <a:xfrm>
          <a:off x="5820371" y="808320"/>
          <a:ext cx="3749074" cy="11434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High demand, low supply →</a:t>
          </a:r>
          <a:r>
            <a:rPr lang="en-US" sz="2000" kern="1200"/>
            <a:t> surge pricing, longer wait times and passenger dissatisfaction.</a:t>
          </a:r>
        </a:p>
      </dsp:txBody>
      <dsp:txXfrm>
        <a:off x="5820371" y="808320"/>
        <a:ext cx="3749074" cy="1143467"/>
      </dsp:txXfrm>
    </dsp:sp>
    <dsp:sp modelId="{E1C3C8FE-DB9B-4BA4-9F4D-06B09CC6602C}">
      <dsp:nvSpPr>
        <dsp:cNvPr id="0" name=""/>
        <dsp:cNvSpPr/>
      </dsp:nvSpPr>
      <dsp:spPr>
        <a:xfrm>
          <a:off x="5820371" y="2420422"/>
          <a:ext cx="3749074" cy="11434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High supply, low demand →</a:t>
          </a:r>
          <a:r>
            <a:rPr lang="en-US" sz="2000" kern="1200"/>
            <a:t> driver idle time and supply drop-off.</a:t>
          </a:r>
        </a:p>
      </dsp:txBody>
      <dsp:txXfrm>
        <a:off x="5820371" y="2420422"/>
        <a:ext cx="3749074" cy="11434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014BF-802C-45D9-968B-F2EDEA122EF0}">
      <dsp:nvSpPr>
        <dsp:cNvPr id="0" name=""/>
        <dsp:cNvSpPr/>
      </dsp:nvSpPr>
      <dsp:spPr>
        <a:xfrm rot="5400000">
          <a:off x="2366213" y="-697369"/>
          <a:ext cx="1062673" cy="272710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Very low trip frequency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Lowest spending and shortest lifetime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These users naturally churn and are not critical for long-term retention.</a:t>
          </a:r>
        </a:p>
      </dsp:txBody>
      <dsp:txXfrm rot="-5400000">
        <a:off x="1533997" y="186722"/>
        <a:ext cx="2675231" cy="958923"/>
      </dsp:txXfrm>
    </dsp:sp>
    <dsp:sp modelId="{9AF9D679-EE37-4119-BDC5-F39C033C4E9F}">
      <dsp:nvSpPr>
        <dsp:cNvPr id="0" name=""/>
        <dsp:cNvSpPr/>
      </dsp:nvSpPr>
      <dsp:spPr>
        <a:xfrm>
          <a:off x="0" y="2012"/>
          <a:ext cx="1533997" cy="132834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Casual Customers</a:t>
          </a:r>
          <a:r>
            <a:rPr lang="en-US" sz="1700" kern="1200"/>
            <a:t> (≈194k users)</a:t>
          </a:r>
        </a:p>
      </dsp:txBody>
      <dsp:txXfrm>
        <a:off x="64844" y="66856"/>
        <a:ext cx="1404309" cy="1198654"/>
      </dsp:txXfrm>
    </dsp:sp>
    <dsp:sp modelId="{631FB50D-FFBF-439B-A80E-BCC7C953D91C}">
      <dsp:nvSpPr>
        <dsp:cNvPr id="0" name=""/>
        <dsp:cNvSpPr/>
      </dsp:nvSpPr>
      <dsp:spPr>
        <a:xfrm rot="5400000">
          <a:off x="2366213" y="697390"/>
          <a:ext cx="1062673" cy="272710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Highest lifetime (~306 days)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Travel across more cities on average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Healthy weekly activity and strong overall engagement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This group gives us the most stability.</a:t>
          </a:r>
        </a:p>
      </dsp:txBody>
      <dsp:txXfrm rot="-5400000">
        <a:off x="1533997" y="1581482"/>
        <a:ext cx="2675231" cy="958923"/>
      </dsp:txXfrm>
    </dsp:sp>
    <dsp:sp modelId="{B5C55C7E-A670-4690-A985-8FF8F20B0589}">
      <dsp:nvSpPr>
        <dsp:cNvPr id="0" name=""/>
        <dsp:cNvSpPr/>
      </dsp:nvSpPr>
      <dsp:spPr>
        <a:xfrm>
          <a:off x="0" y="1396772"/>
          <a:ext cx="1533997" cy="132834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Moderate-Usage Customers</a:t>
          </a:r>
          <a:r>
            <a:rPr lang="en-US" sz="1700" kern="1200"/>
            <a:t> (≈891 users)</a:t>
          </a:r>
        </a:p>
      </dsp:txBody>
      <dsp:txXfrm>
        <a:off x="64844" y="1461616"/>
        <a:ext cx="1404309" cy="1198654"/>
      </dsp:txXfrm>
    </dsp:sp>
    <dsp:sp modelId="{8A33BD6B-92D8-4848-8E46-71AF132AA8E5}">
      <dsp:nvSpPr>
        <dsp:cNvPr id="0" name=""/>
        <dsp:cNvSpPr/>
      </dsp:nvSpPr>
      <dsp:spPr>
        <a:xfrm rot="5400000">
          <a:off x="2366213" y="2092149"/>
          <a:ext cx="1062673" cy="272710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High spending and strong trip frequency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Lifetime around ~282 days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Important revenue drivers and very valuable to retain.</a:t>
          </a:r>
        </a:p>
      </dsp:txBody>
      <dsp:txXfrm rot="-5400000">
        <a:off x="1533997" y="2976241"/>
        <a:ext cx="2675231" cy="958923"/>
      </dsp:txXfrm>
    </dsp:sp>
    <dsp:sp modelId="{98F0C8F9-33B7-4621-A5DD-32EF5A0D9D76}">
      <dsp:nvSpPr>
        <dsp:cNvPr id="0" name=""/>
        <dsp:cNvSpPr/>
      </dsp:nvSpPr>
      <dsp:spPr>
        <a:xfrm>
          <a:off x="0" y="2791531"/>
          <a:ext cx="1533997" cy="132834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kern="1200"/>
            <a:t>High-Usage Customers</a:t>
          </a:r>
          <a:r>
            <a:rPr lang="en-US" sz="1700" kern="1200"/>
            <a:t> (≈39k users)</a:t>
          </a:r>
        </a:p>
      </dsp:txBody>
      <dsp:txXfrm>
        <a:off x="64844" y="2856375"/>
        <a:ext cx="1404309" cy="1198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5256C-CBD8-405E-8168-B373EA0E44A8}">
      <dsp:nvSpPr>
        <dsp:cNvPr id="0" name=""/>
        <dsp:cNvSpPr/>
      </dsp:nvSpPr>
      <dsp:spPr>
        <a:xfrm>
          <a:off x="134991" y="0"/>
          <a:ext cx="5105400" cy="51054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7375E-48DC-4CF6-A063-05C2383E9F87}">
      <dsp:nvSpPr>
        <dsp:cNvPr id="0" name=""/>
        <dsp:cNvSpPr/>
      </dsp:nvSpPr>
      <dsp:spPr>
        <a:xfrm>
          <a:off x="620004" y="485013"/>
          <a:ext cx="1991106" cy="1991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Number of clusters</a:t>
          </a:r>
        </a:p>
      </dsp:txBody>
      <dsp:txXfrm>
        <a:off x="717202" y="582211"/>
        <a:ext cx="1796710" cy="1796710"/>
      </dsp:txXfrm>
    </dsp:sp>
    <dsp:sp modelId="{427FE992-F907-4F6A-B43D-B109508FCB86}">
      <dsp:nvSpPr>
        <dsp:cNvPr id="0" name=""/>
        <dsp:cNvSpPr/>
      </dsp:nvSpPr>
      <dsp:spPr>
        <a:xfrm>
          <a:off x="2764272" y="485013"/>
          <a:ext cx="1991106" cy="1991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Churn inactivity threshold (days)</a:t>
          </a:r>
        </a:p>
      </dsp:txBody>
      <dsp:txXfrm>
        <a:off x="2861470" y="582211"/>
        <a:ext cx="1796710" cy="1796710"/>
      </dsp:txXfrm>
    </dsp:sp>
    <dsp:sp modelId="{B0975495-AE74-4CFB-8E60-58AA95DBC091}">
      <dsp:nvSpPr>
        <dsp:cNvPr id="0" name=""/>
        <dsp:cNvSpPr/>
      </dsp:nvSpPr>
      <dsp:spPr>
        <a:xfrm>
          <a:off x="620004" y="2629281"/>
          <a:ext cx="1991106" cy="1991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Cluster selection</a:t>
          </a:r>
        </a:p>
      </dsp:txBody>
      <dsp:txXfrm>
        <a:off x="717202" y="2726479"/>
        <a:ext cx="1796710" cy="1796710"/>
      </dsp:txXfrm>
    </dsp:sp>
    <dsp:sp modelId="{EB2B587B-26B2-4B23-B75C-15F6F3A5214C}">
      <dsp:nvSpPr>
        <dsp:cNvPr id="0" name=""/>
        <dsp:cNvSpPr/>
      </dsp:nvSpPr>
      <dsp:spPr>
        <a:xfrm>
          <a:off x="2764272" y="2629281"/>
          <a:ext cx="1991106" cy="1991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Date range</a:t>
          </a:r>
        </a:p>
      </dsp:txBody>
      <dsp:txXfrm>
        <a:off x="2861470" y="2726479"/>
        <a:ext cx="1796710" cy="17967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BF90F-F5E2-45F9-9E68-3B1B2649AA25}">
      <dsp:nvSpPr>
        <dsp:cNvPr id="0" name=""/>
        <dsp:cNvSpPr/>
      </dsp:nvSpPr>
      <dsp:spPr>
        <a:xfrm>
          <a:off x="11935" y="314395"/>
          <a:ext cx="2623656" cy="787096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85" tIns="97185" rIns="97185" bIns="9718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Flexibility</a:t>
          </a:r>
        </a:p>
      </dsp:txBody>
      <dsp:txXfrm>
        <a:off x="248064" y="314395"/>
        <a:ext cx="2151398" cy="787096"/>
      </dsp:txXfrm>
    </dsp:sp>
    <dsp:sp modelId="{5034932D-A298-41E4-B63C-0466153416F4}">
      <dsp:nvSpPr>
        <dsp:cNvPr id="0" name=""/>
        <dsp:cNvSpPr/>
      </dsp:nvSpPr>
      <dsp:spPr>
        <a:xfrm>
          <a:off x="11935" y="1101492"/>
          <a:ext cx="2387527" cy="227446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668" tIns="188668" rIns="188668" bIns="37733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Different types of users (analysts, managers, decision-makers) can interact with the dashboard according to their needs.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Filters, sliders, and multi-select options allow anyone to explore behavior at different levels of detail.</a:t>
          </a:r>
          <a:endParaRPr lang="en-US" sz="1300" kern="1200" dirty="0"/>
        </a:p>
      </dsp:txBody>
      <dsp:txXfrm>
        <a:off x="11935" y="1101492"/>
        <a:ext cx="2387527" cy="2274468"/>
      </dsp:txXfrm>
    </dsp:sp>
    <dsp:sp modelId="{4F190AD6-EEC2-4CB5-A519-17745CCEF188}">
      <dsp:nvSpPr>
        <dsp:cNvPr id="0" name=""/>
        <dsp:cNvSpPr/>
      </dsp:nvSpPr>
      <dsp:spPr>
        <a:xfrm>
          <a:off x="2583826" y="314395"/>
          <a:ext cx="2623656" cy="787096"/>
        </a:xfrm>
        <a:prstGeom prst="chevron">
          <a:avLst>
            <a:gd name="adj" fmla="val 30000"/>
          </a:avLst>
        </a:prstGeom>
        <a:solidFill>
          <a:schemeClr val="accent2">
            <a:hueOff val="-477861"/>
            <a:satOff val="-11515"/>
            <a:lumOff val="-6928"/>
            <a:alphaOff val="0"/>
          </a:schemeClr>
        </a:solidFill>
        <a:ln w="12700" cap="flat" cmpd="sng" algn="ctr">
          <a:solidFill>
            <a:schemeClr val="accent2">
              <a:hueOff val="-477861"/>
              <a:satOff val="-11515"/>
              <a:lumOff val="-6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85" tIns="97185" rIns="97185" bIns="9718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Dynamic Reflection</a:t>
          </a:r>
        </a:p>
      </dsp:txBody>
      <dsp:txXfrm>
        <a:off x="2819955" y="314395"/>
        <a:ext cx="2151398" cy="787096"/>
      </dsp:txXfrm>
    </dsp:sp>
    <dsp:sp modelId="{6155CA9B-9A4A-419F-AE6C-2BEF2A364EC2}">
      <dsp:nvSpPr>
        <dsp:cNvPr id="0" name=""/>
        <dsp:cNvSpPr/>
      </dsp:nvSpPr>
      <dsp:spPr>
        <a:xfrm>
          <a:off x="2583826" y="1101492"/>
          <a:ext cx="2387527" cy="2274468"/>
        </a:xfrm>
        <a:prstGeom prst="rect">
          <a:avLst/>
        </a:prstGeom>
        <a:solidFill>
          <a:schemeClr val="accent2">
            <a:tint val="40000"/>
            <a:alpha val="90000"/>
            <a:hueOff val="-476490"/>
            <a:satOff val="-22417"/>
            <a:lumOff val="-18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76490"/>
              <a:satOff val="-22417"/>
              <a:lumOff val="-18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668" tIns="188668" rIns="188668" bIns="37733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Every parameter change (clusters, churn threshold, date range) updates all visuals instantly.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Users immediately see how behavior shifts without rerunning code or refreshing the environment.</a:t>
          </a:r>
          <a:endParaRPr lang="en-US" sz="1300" kern="1200" dirty="0"/>
        </a:p>
      </dsp:txBody>
      <dsp:txXfrm>
        <a:off x="2583826" y="1101492"/>
        <a:ext cx="2387527" cy="2274468"/>
      </dsp:txXfrm>
    </dsp:sp>
    <dsp:sp modelId="{C3C5522C-CD4E-4301-BF05-8FF683111672}">
      <dsp:nvSpPr>
        <dsp:cNvPr id="0" name=""/>
        <dsp:cNvSpPr/>
      </dsp:nvSpPr>
      <dsp:spPr>
        <a:xfrm>
          <a:off x="5155717" y="314395"/>
          <a:ext cx="2623656" cy="787096"/>
        </a:xfrm>
        <a:prstGeom prst="chevron">
          <a:avLst>
            <a:gd name="adj" fmla="val 30000"/>
          </a:avLst>
        </a:prstGeom>
        <a:solidFill>
          <a:schemeClr val="accent2">
            <a:hueOff val="-955721"/>
            <a:satOff val="-23029"/>
            <a:lumOff val="-13857"/>
            <a:alphaOff val="0"/>
          </a:schemeClr>
        </a:solidFill>
        <a:ln w="12700" cap="flat" cmpd="sng" algn="ctr">
          <a:solidFill>
            <a:schemeClr val="accent2">
              <a:hueOff val="-955721"/>
              <a:satOff val="-23029"/>
              <a:lumOff val="-138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85" tIns="97185" rIns="97185" bIns="9718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Interpretability</a:t>
          </a:r>
          <a:endParaRPr lang="en-US" sz="2100" kern="1200" dirty="0"/>
        </a:p>
      </dsp:txBody>
      <dsp:txXfrm>
        <a:off x="5391846" y="314395"/>
        <a:ext cx="2151398" cy="787096"/>
      </dsp:txXfrm>
    </dsp:sp>
    <dsp:sp modelId="{198BAFCE-7FB5-4ABB-9CDC-30FB5A5F68D7}">
      <dsp:nvSpPr>
        <dsp:cNvPr id="0" name=""/>
        <dsp:cNvSpPr/>
      </dsp:nvSpPr>
      <dsp:spPr>
        <a:xfrm>
          <a:off x="5155717" y="1101492"/>
          <a:ext cx="2387527" cy="2274468"/>
        </a:xfrm>
        <a:prstGeom prst="rect">
          <a:avLst/>
        </a:prstGeom>
        <a:solidFill>
          <a:schemeClr val="accent2">
            <a:tint val="40000"/>
            <a:alpha val="90000"/>
            <a:hueOff val="-952981"/>
            <a:satOff val="-44835"/>
            <a:lumOff val="-3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952981"/>
              <a:satOff val="-44835"/>
              <a:lumOff val="-3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668" tIns="188668" rIns="188668" bIns="37733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Visuals such as radar charts, scatter plots, and KPIs simplify complex ML outputs.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Clusters are labeled (A, B, C…) based on business importance to make results easy to understand.</a:t>
          </a:r>
          <a:endParaRPr lang="en-US" sz="1300" kern="1200" dirty="0"/>
        </a:p>
      </dsp:txBody>
      <dsp:txXfrm>
        <a:off x="5155717" y="1101492"/>
        <a:ext cx="2387527" cy="2274468"/>
      </dsp:txXfrm>
    </dsp:sp>
    <dsp:sp modelId="{30B77600-1A39-43D3-AD05-C7270F21A9F5}">
      <dsp:nvSpPr>
        <dsp:cNvPr id="0" name=""/>
        <dsp:cNvSpPr/>
      </dsp:nvSpPr>
      <dsp:spPr>
        <a:xfrm>
          <a:off x="7727608" y="314395"/>
          <a:ext cx="2623656" cy="787096"/>
        </a:xfrm>
        <a:prstGeom prst="chevron">
          <a:avLst>
            <a:gd name="adj" fmla="val 30000"/>
          </a:avLst>
        </a:prstGeom>
        <a:solidFill>
          <a:schemeClr val="accent2">
            <a:hueOff val="-1433582"/>
            <a:satOff val="-34544"/>
            <a:lumOff val="-20785"/>
            <a:alphaOff val="0"/>
          </a:schemeClr>
        </a:solidFill>
        <a:ln w="12700" cap="flat" cmpd="sng" algn="ctr">
          <a:solidFill>
            <a:schemeClr val="accent2">
              <a:hueOff val="-1433582"/>
              <a:satOff val="-34544"/>
              <a:lumOff val="-207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85" tIns="97185" rIns="97185" bIns="9718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Action-Driven Insights</a:t>
          </a:r>
        </a:p>
      </dsp:txBody>
      <dsp:txXfrm>
        <a:off x="7963737" y="314395"/>
        <a:ext cx="2151398" cy="787096"/>
      </dsp:txXfrm>
    </dsp:sp>
    <dsp:sp modelId="{E03E6370-2C89-497D-805F-F80A479D6C0B}">
      <dsp:nvSpPr>
        <dsp:cNvPr id="0" name=""/>
        <dsp:cNvSpPr/>
      </dsp:nvSpPr>
      <dsp:spPr>
        <a:xfrm>
          <a:off x="7727608" y="1101492"/>
          <a:ext cx="2387527" cy="2274468"/>
        </a:xfrm>
        <a:prstGeom prst="rect">
          <a:avLst/>
        </a:prstGeom>
        <a:solidFill>
          <a:schemeClr val="accent2">
            <a:tint val="40000"/>
            <a:alpha val="90000"/>
            <a:hueOff val="-1429471"/>
            <a:satOff val="-67252"/>
            <a:lumOff val="-551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29471"/>
              <a:satOff val="-67252"/>
              <a:lumOff val="-55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668" tIns="188668" rIns="188668" bIns="37733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Who is churning?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Which clusters are most valuable?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How do behavior patterns change across segments?</a:t>
          </a:r>
          <a:endParaRPr lang="en-US" sz="1300" kern="1200" dirty="0"/>
        </a:p>
      </dsp:txBody>
      <dsp:txXfrm>
        <a:off x="7727608" y="1101492"/>
        <a:ext cx="2387527" cy="22744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CA6E7-F152-43D8-A6E6-B0D582B67099}">
      <dsp:nvSpPr>
        <dsp:cNvPr id="0" name=""/>
        <dsp:cNvSpPr/>
      </dsp:nvSpPr>
      <dsp:spPr>
        <a:xfrm>
          <a:off x="3403" y="32190"/>
          <a:ext cx="3318329" cy="489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Libraries Used:</a:t>
          </a:r>
        </a:p>
      </dsp:txBody>
      <dsp:txXfrm>
        <a:off x="3403" y="32190"/>
        <a:ext cx="3318329" cy="489600"/>
      </dsp:txXfrm>
    </dsp:sp>
    <dsp:sp modelId="{C67D94BB-320D-4D23-9259-A983030BF0D2}">
      <dsp:nvSpPr>
        <dsp:cNvPr id="0" name=""/>
        <dsp:cNvSpPr/>
      </dsp:nvSpPr>
      <dsp:spPr>
        <a:xfrm>
          <a:off x="3403" y="521790"/>
          <a:ext cx="3318329" cy="318488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Marimo for dynamic modeling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matplotlib and seaborn for visualization</a:t>
          </a:r>
        </a:p>
      </dsp:txBody>
      <dsp:txXfrm>
        <a:off x="3403" y="521790"/>
        <a:ext cx="3318329" cy="3184886"/>
      </dsp:txXfrm>
    </dsp:sp>
    <dsp:sp modelId="{7E26CFBE-6708-44CB-A310-E70DA79194EB}">
      <dsp:nvSpPr>
        <dsp:cNvPr id="0" name=""/>
        <dsp:cNvSpPr/>
      </dsp:nvSpPr>
      <dsp:spPr>
        <a:xfrm>
          <a:off x="3786299" y="32190"/>
          <a:ext cx="3318329" cy="489600"/>
        </a:xfrm>
        <a:prstGeom prst="rect">
          <a:avLst/>
        </a:prstGeom>
        <a:solidFill>
          <a:schemeClr val="accent2">
            <a:hueOff val="-716791"/>
            <a:satOff val="-17272"/>
            <a:lumOff val="-10393"/>
            <a:alphaOff val="0"/>
          </a:schemeClr>
        </a:solidFill>
        <a:ln w="12700" cap="flat" cmpd="sng" algn="ctr">
          <a:solidFill>
            <a:schemeClr val="accent2">
              <a:hueOff val="-716791"/>
              <a:satOff val="-17272"/>
              <a:lumOff val="-103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Visualization Layer:</a:t>
          </a:r>
        </a:p>
      </dsp:txBody>
      <dsp:txXfrm>
        <a:off x="3786299" y="32190"/>
        <a:ext cx="3318329" cy="489600"/>
      </dsp:txXfrm>
    </dsp:sp>
    <dsp:sp modelId="{D4823C95-797B-4BAA-913D-72454EEEBDAA}">
      <dsp:nvSpPr>
        <dsp:cNvPr id="0" name=""/>
        <dsp:cNvSpPr/>
      </dsp:nvSpPr>
      <dsp:spPr>
        <a:xfrm>
          <a:off x="3786299" y="521790"/>
          <a:ext cx="3318329" cy="3184886"/>
        </a:xfrm>
        <a:prstGeom prst="rect">
          <a:avLst/>
        </a:prstGeom>
        <a:solidFill>
          <a:schemeClr val="accent2">
            <a:tint val="40000"/>
            <a:alpha val="90000"/>
            <a:hueOff val="-714735"/>
            <a:satOff val="-33626"/>
            <a:lumOff val="-275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14735"/>
              <a:satOff val="-33626"/>
              <a:lumOff val="-27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Built reusable plotting functions (radar, bar/</a:t>
          </a:r>
          <a:r>
            <a:rPr lang="en-US" sz="1700" kern="1200" dirty="0" err="1"/>
            <a:t>countplot</a:t>
          </a:r>
          <a:r>
            <a:rPr lang="en-US" sz="1700" kern="1200" dirty="0"/>
            <a:t>, scatter)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Used custom palettes + cluster coloring to improve interpretation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KPI cards computed and displayed (churn rate, active users, cutoff date)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Visuals reflect user-selected filters (date range, clusters, features)</a:t>
          </a:r>
        </a:p>
      </dsp:txBody>
      <dsp:txXfrm>
        <a:off x="3786299" y="521790"/>
        <a:ext cx="3318329" cy="3184886"/>
      </dsp:txXfrm>
    </dsp:sp>
    <dsp:sp modelId="{C7118C6C-B15B-4356-9774-D07B8A224F4C}">
      <dsp:nvSpPr>
        <dsp:cNvPr id="0" name=""/>
        <dsp:cNvSpPr/>
      </dsp:nvSpPr>
      <dsp:spPr>
        <a:xfrm>
          <a:off x="7569195" y="32190"/>
          <a:ext cx="3318329" cy="489600"/>
        </a:xfrm>
        <a:prstGeom prst="rect">
          <a:avLst/>
        </a:prstGeom>
        <a:solidFill>
          <a:schemeClr val="accent2">
            <a:hueOff val="-1433582"/>
            <a:satOff val="-34544"/>
            <a:lumOff val="-20785"/>
            <a:alphaOff val="0"/>
          </a:schemeClr>
        </a:solidFill>
        <a:ln w="12700" cap="flat" cmpd="sng" algn="ctr">
          <a:solidFill>
            <a:schemeClr val="accent2">
              <a:hueOff val="-1433582"/>
              <a:satOff val="-34544"/>
              <a:lumOff val="-207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Clustering (K-Means):</a:t>
          </a:r>
        </a:p>
      </dsp:txBody>
      <dsp:txXfrm>
        <a:off x="7569195" y="32190"/>
        <a:ext cx="3318329" cy="489600"/>
      </dsp:txXfrm>
    </dsp:sp>
    <dsp:sp modelId="{2E843382-5350-47B7-81F0-8588FC6A45FB}">
      <dsp:nvSpPr>
        <dsp:cNvPr id="0" name=""/>
        <dsp:cNvSpPr/>
      </dsp:nvSpPr>
      <dsp:spPr>
        <a:xfrm>
          <a:off x="7569195" y="521790"/>
          <a:ext cx="3318329" cy="3184886"/>
        </a:xfrm>
        <a:prstGeom prst="rect">
          <a:avLst/>
        </a:prstGeom>
        <a:solidFill>
          <a:schemeClr val="accent2">
            <a:tint val="40000"/>
            <a:alpha val="90000"/>
            <a:hueOff val="-1429471"/>
            <a:satOff val="-67252"/>
            <a:lumOff val="-551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29471"/>
              <a:satOff val="-67252"/>
              <a:lumOff val="-55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Implemented sliders, dropdowns, multiselects, and date pickers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Every UI change triggers reactive re-execution of dependent cells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Integrated Matplotlib outputs directly inside Marimo (mo.ui.matplotlib())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Created a full analytics workflow: parameter → computation → updated visual</a:t>
          </a:r>
        </a:p>
      </dsp:txBody>
      <dsp:txXfrm>
        <a:off x="7569195" y="521790"/>
        <a:ext cx="3318329" cy="31848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7C829A-F55C-4187-9ADB-CADAAFB666B1}">
      <dsp:nvSpPr>
        <dsp:cNvPr id="0" name=""/>
        <dsp:cNvSpPr/>
      </dsp:nvSpPr>
      <dsp:spPr>
        <a:xfrm>
          <a:off x="8801" y="111976"/>
          <a:ext cx="3483042" cy="1044912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18" tIns="129018" rIns="129018" bIns="12901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Fully Reactive Execution</a:t>
          </a:r>
        </a:p>
      </dsp:txBody>
      <dsp:txXfrm>
        <a:off x="322275" y="111976"/>
        <a:ext cx="2856094" cy="1044912"/>
      </dsp:txXfrm>
    </dsp:sp>
    <dsp:sp modelId="{995A644F-ED8A-47A0-B70F-6B16CEEF16A9}">
      <dsp:nvSpPr>
        <dsp:cNvPr id="0" name=""/>
        <dsp:cNvSpPr/>
      </dsp:nvSpPr>
      <dsp:spPr>
        <a:xfrm>
          <a:off x="8801" y="1156889"/>
          <a:ext cx="3169569" cy="353452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66" tIns="250466" rIns="250466" bIns="500933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Marimo automatically re-executes only the cells affected by a user’s action.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When a slider, dropdown, or date filter changes, all relevant visuals, KPIs, and tables update instantly.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Enables real-time exploration without rerunning the notebook or refreshing the interface.</a:t>
          </a:r>
        </a:p>
      </dsp:txBody>
      <dsp:txXfrm>
        <a:off x="8801" y="1156889"/>
        <a:ext cx="3169569" cy="3534521"/>
      </dsp:txXfrm>
    </dsp:sp>
    <dsp:sp modelId="{DE133631-10C8-4F8E-AA3E-0E782B9D0492}">
      <dsp:nvSpPr>
        <dsp:cNvPr id="0" name=""/>
        <dsp:cNvSpPr/>
      </dsp:nvSpPr>
      <dsp:spPr>
        <a:xfrm>
          <a:off x="3440078" y="111976"/>
          <a:ext cx="3483042" cy="1044912"/>
        </a:xfrm>
        <a:prstGeom prst="chevron">
          <a:avLst>
            <a:gd name="adj" fmla="val 30000"/>
          </a:avLst>
        </a:prstGeom>
        <a:solidFill>
          <a:schemeClr val="accent2">
            <a:hueOff val="-716791"/>
            <a:satOff val="-17272"/>
            <a:lumOff val="-10393"/>
            <a:alphaOff val="0"/>
          </a:schemeClr>
        </a:solidFill>
        <a:ln w="12700" cap="flat" cmpd="sng" algn="ctr">
          <a:solidFill>
            <a:schemeClr val="accent2">
              <a:hueOff val="-716791"/>
              <a:satOff val="-17272"/>
              <a:lumOff val="-103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18" tIns="129018" rIns="129018" bIns="12901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Composable UI Components &amp; Live Data Interaction</a:t>
          </a:r>
        </a:p>
      </dsp:txBody>
      <dsp:txXfrm>
        <a:off x="3753552" y="111976"/>
        <a:ext cx="2856094" cy="1044912"/>
      </dsp:txXfrm>
    </dsp:sp>
    <dsp:sp modelId="{51F20448-8103-4C29-9A86-99D3FE1BFEED}">
      <dsp:nvSpPr>
        <dsp:cNvPr id="0" name=""/>
        <dsp:cNvSpPr/>
      </dsp:nvSpPr>
      <dsp:spPr>
        <a:xfrm>
          <a:off x="3440078" y="1156889"/>
          <a:ext cx="3169569" cy="3534521"/>
        </a:xfrm>
        <a:prstGeom prst="rect">
          <a:avLst/>
        </a:prstGeom>
        <a:solidFill>
          <a:schemeClr val="accent2">
            <a:tint val="40000"/>
            <a:alpha val="90000"/>
            <a:hueOff val="-714735"/>
            <a:satOff val="-33626"/>
            <a:lumOff val="-275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14735"/>
              <a:satOff val="-33626"/>
              <a:lumOff val="-27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66" tIns="250466" rIns="250466" bIns="500933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Marimo provides a rich set of widgets—sliders, multiselects, dropdowns, date pickers, buttons—allowing flexible user input.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These controls make the dashboard accessible to non-technical users while still driving complex ML operations in the background.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Every interaction (changing clusters, churn threshold, selected features, etc.) triggers immediate recalculation of metrics and charts.</a:t>
          </a:r>
        </a:p>
      </dsp:txBody>
      <dsp:txXfrm>
        <a:off x="3440078" y="1156889"/>
        <a:ext cx="3169569" cy="3534521"/>
      </dsp:txXfrm>
    </dsp:sp>
    <dsp:sp modelId="{1057BA06-1EE7-4949-A9B7-1E88BB909DD1}">
      <dsp:nvSpPr>
        <dsp:cNvPr id="0" name=""/>
        <dsp:cNvSpPr/>
      </dsp:nvSpPr>
      <dsp:spPr>
        <a:xfrm>
          <a:off x="6871356" y="111976"/>
          <a:ext cx="3483042" cy="1044912"/>
        </a:xfrm>
        <a:prstGeom prst="chevron">
          <a:avLst>
            <a:gd name="adj" fmla="val 30000"/>
          </a:avLst>
        </a:prstGeom>
        <a:solidFill>
          <a:schemeClr val="accent2">
            <a:hueOff val="-1433582"/>
            <a:satOff val="-34544"/>
            <a:lumOff val="-20785"/>
            <a:alphaOff val="0"/>
          </a:schemeClr>
        </a:solidFill>
        <a:ln w="12700" cap="flat" cmpd="sng" algn="ctr">
          <a:solidFill>
            <a:schemeClr val="accent2">
              <a:hueOff val="-1433582"/>
              <a:satOff val="-34544"/>
              <a:lumOff val="-207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018" tIns="129018" rIns="129018" bIns="12901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Seamless Integration With Matplotlib</a:t>
          </a:r>
        </a:p>
      </dsp:txBody>
      <dsp:txXfrm>
        <a:off x="7184830" y="111976"/>
        <a:ext cx="2856094" cy="1044912"/>
      </dsp:txXfrm>
    </dsp:sp>
    <dsp:sp modelId="{82C78B7B-4571-451F-872C-BAD2BA1176A3}">
      <dsp:nvSpPr>
        <dsp:cNvPr id="0" name=""/>
        <dsp:cNvSpPr/>
      </dsp:nvSpPr>
      <dsp:spPr>
        <a:xfrm>
          <a:off x="6871356" y="1156889"/>
          <a:ext cx="3169569" cy="3534521"/>
        </a:xfrm>
        <a:prstGeom prst="rect">
          <a:avLst/>
        </a:prstGeom>
        <a:solidFill>
          <a:schemeClr val="accent2">
            <a:tint val="40000"/>
            <a:alpha val="90000"/>
            <a:hueOff val="-1429471"/>
            <a:satOff val="-67252"/>
            <a:lumOff val="-551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29471"/>
              <a:satOff val="-67252"/>
              <a:lumOff val="-55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66" tIns="250466" rIns="250466" bIns="500933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Although Matplotlib is a static visualization library, Marimo renders each figure cleanly and responsively inside the dashboard.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Custom Matplotlib charts—such as our radar plots, scatter plots, and </a:t>
          </a:r>
          <a:r>
            <a:rPr lang="en-US" sz="1300" kern="1200" dirty="0" err="1"/>
            <a:t>countplots</a:t>
          </a:r>
          <a:r>
            <a:rPr lang="en-US" sz="1300" kern="1200" dirty="0"/>
            <a:t>—are displayed through </a:t>
          </a:r>
          <a:r>
            <a:rPr lang="en-US" sz="1300" kern="1200" dirty="0" err="1"/>
            <a:t>mo.ui.matplotlib</a:t>
          </a:r>
          <a:r>
            <a:rPr lang="en-US" sz="1300" kern="1200" dirty="0"/>
            <a:t>(fig).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integration allows us to keep familiar Python plotting workflows while benefiting from Marimo’s interactive layer.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 result: traditional Matplotlib visuals behave as reactive dashboard components, updating whenever filters or parameters change.</a:t>
          </a:r>
        </a:p>
      </dsp:txBody>
      <dsp:txXfrm>
        <a:off x="6871356" y="1156889"/>
        <a:ext cx="3169569" cy="3534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AIAAAALQAAmRoAABAAAAAmAAAACAAAAAGgAAAAAAAA"/>
              </a:ext>
            </a:extLst>
          </p:cNvSpPr>
          <p:nvPr>
            <p:ph type="ctrTitle"/>
          </p:nvPr>
        </p:nvSpPr>
        <p:spPr>
          <a:xfrm>
            <a:off x="640080" y="1371600"/>
            <a:ext cx="6675120" cy="295211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en-us" sz="54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C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CL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DQcAAAALQAAICQAABAAAAAmAAAACAAAAIGgAAAAAAAA"/>
              </a:ext>
            </a:extLst>
          </p:cNvSpPr>
          <p:nvPr>
            <p:ph type="subTitle" idx="1"/>
          </p:nvPr>
        </p:nvSpPr>
        <p:spPr>
          <a:xfrm>
            <a:off x="640080" y="4584700"/>
            <a:ext cx="6675120" cy="128778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 algn="l">
              <a:lnSpc>
                <a:spcPct val="130000"/>
              </a:lnSpc>
              <a:buNone/>
              <a:defRPr lang="en-us" sz="1800" b="1" cap="all" spc="60" baseline="0"/>
            </a:lvl1pPr>
            <a:lvl2pPr marL="457200" indent="0" algn="ctr">
              <a:buNone/>
              <a:defRPr lang="en-us" sz="2000" cap="none"/>
            </a:lvl2pPr>
            <a:lvl3pPr marL="914400" indent="0" algn="ctr">
              <a:buNone/>
              <a:defRPr lang="en-us" sz="1800" cap="none"/>
            </a:lvl3pPr>
            <a:lvl4pPr marL="1371600" indent="0" algn="ctr">
              <a:buNone/>
              <a:defRPr lang="en-us" sz="1600" cap="none"/>
            </a:lvl4pPr>
            <a:lvl5pPr marL="1828800" indent="0" algn="ctr">
              <a:buNone/>
              <a:defRPr lang="en-us" sz="1600" cap="none"/>
            </a:lvl5pPr>
            <a:lvl6pPr marL="2286000" indent="0" algn="ctr">
              <a:buNone/>
              <a:defRPr lang="en-us" sz="1600" cap="none"/>
            </a:lvl6pPr>
            <a:lvl7pPr marL="2743200" indent="0" algn="ctr">
              <a:buNone/>
              <a:defRPr lang="en-us" sz="1600" cap="none"/>
            </a:lvl7pPr>
            <a:lvl8pPr marL="3200400" indent="0" algn="ctr">
              <a:buNone/>
              <a:defRPr lang="en-us" sz="1600" cap="none"/>
            </a:lvl8pPr>
            <a:lvl9pPr marL="3657600" indent="0" algn="ctr">
              <a:buNone/>
              <a:defRPr lang="en-us" sz="1600" cap="none"/>
            </a:lvl9pPr>
          </a:lstStyle>
          <a:p>
            <a:pPr>
              <a:defRPr lang="en-us"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3907-49DA-C4CF-9429-BF9A776762EA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1A1B-55DA-C4EC-9429-A3B9546762F6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AIAADvRgAAMA8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DMQAADvRgAAIyY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0633-7DDA-C4F0-9429-8BA5486762DE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5453-1DDA-C4A2-9429-EBF71A6762BE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7"/>
          <p:cNvSpPr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GciDw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GciDwB/f38AAAAA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C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PIHAACgPAAAYhsAABAAAAAmAAAACAAAAIGgAAAAAAAA"/>
              </a:ext>
            </a:extLst>
          </p:cNvSpPr>
          <p:nvPr>
            <p:ph type="title"/>
          </p:nvPr>
        </p:nvSpPr>
        <p:spPr>
          <a:xfrm>
            <a:off x="640080" y="1291590"/>
            <a:ext cx="9215120" cy="315976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54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4" name="Text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N8eAACUNAAAeiUAABAAAAAmAAAACAAAAAGgAAAAAAAA"/>
              </a:ext>
            </a:extLst>
          </p:cNvSpPr>
          <p:nvPr>
            <p:ph idx="1"/>
          </p:nvPr>
        </p:nvSpPr>
        <p:spPr>
          <a:xfrm>
            <a:off x="640080" y="5018405"/>
            <a:ext cx="7907020" cy="107378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en-us" sz="2000" cap="none">
                <a:solidFill>
                  <a:schemeClr val="tx1"/>
                </a:solidFill>
              </a:defRPr>
            </a:lvl1pPr>
            <a:lvl2pPr marL="457200" indent="0">
              <a:buNone/>
              <a:defRPr lang="en-us" sz="2000" cap="none">
                <a:solidFill>
                  <a:srgbClr val="8C8C8C"/>
                </a:solidFill>
              </a:defRPr>
            </a:lvl2pPr>
            <a:lvl3pPr marL="914400" indent="0">
              <a:buNone/>
              <a:defRPr lang="en-us" sz="1800" cap="none">
                <a:solidFill>
                  <a:srgbClr val="8C8C8C"/>
                </a:solidFill>
              </a:defRPr>
            </a:lvl3pPr>
            <a:lvl4pPr marL="1371600" indent="0">
              <a:buNone/>
              <a:defRPr lang="en-us" sz="1600" cap="none">
                <a:solidFill>
                  <a:srgbClr val="8C8C8C"/>
                </a:solidFill>
              </a:defRPr>
            </a:lvl4pPr>
            <a:lvl5pPr marL="1828800" indent="0">
              <a:buNone/>
              <a:defRPr lang="en-us" sz="1600" cap="none">
                <a:solidFill>
                  <a:srgbClr val="8C8C8C"/>
                </a:solidFill>
              </a:defRPr>
            </a:lvl5pPr>
            <a:lvl6pPr marL="2286000" indent="0">
              <a:buNone/>
              <a:defRPr lang="en-us" sz="1600" cap="none">
                <a:solidFill>
                  <a:srgbClr val="8C8C8C"/>
                </a:solidFill>
              </a:defRPr>
            </a:lvl6pPr>
            <a:lvl7pPr marL="2743200" indent="0">
              <a:buNone/>
              <a:defRPr lang="en-us" sz="1600" cap="none">
                <a:solidFill>
                  <a:srgbClr val="8C8C8C"/>
                </a:solidFill>
              </a:defRPr>
            </a:lvl7pPr>
            <a:lvl8pPr marL="3200400" indent="0">
              <a:buNone/>
              <a:defRPr lang="en-us" sz="1600" cap="none">
                <a:solidFill>
                  <a:srgbClr val="8C8C8C"/>
                </a:solidFill>
              </a:defRPr>
            </a:lvl8pPr>
            <a:lvl9pPr marL="3657600" indent="0">
              <a:buNone/>
              <a:defRPr lang="en-us" sz="16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4D69-27DA-C4BB-9429-D1EE03676284}" type="datetime1">
              <a:t>12/8/2025</a:t>
            </a:fld>
          </a:p>
        </p:txBody>
      </p:sp>
      <p:sp>
        <p:nvSpPr>
          <p:cNvPr id="6" name="Footer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5AFC-B2DA-C4AC-9429-44F914676211}" type="slidenum">
              <a:t>‹#›</a:t>
            </a:fld>
          </a:p>
        </p:txBody>
      </p:sp>
      <p:sp>
        <p:nvSpPr>
          <p:cNvPr id="8" name="Straight Connector 6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OhMIgV/f38AAAAAA8zMzADAwP8Af39/AAAAAAAAAAAAAAAAAAAAAAAAAAAAIQAAABgAAAAUAAAAaAQAAAIdAABuCgAAAh0AABAAAAAmAAAACAAAAP//////////"/>
              </a:ext>
            </a:extLst>
          </p:cNvSpPr>
          <p:nvPr/>
        </p:nvSpPr>
        <p:spPr>
          <a:xfrm>
            <a:off x="716280" y="4715510"/>
            <a:ext cx="9791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AIAADvRgAAMA8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DMQAAAAJAAAIyYAABAAAAAmAAAACAAAAAEAAAAAAAAA"/>
              </a:ext>
            </a:extLst>
          </p:cNvSpPr>
          <p:nvPr>
            <p:ph idx="1"/>
          </p:nvPr>
        </p:nvSpPr>
        <p:spPr>
          <a:xfrm>
            <a:off x="640080" y="2633345"/>
            <a:ext cx="5212080" cy="3566160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yYAADMQAADvRgAAIyYAABAAAAAmAAAACAAAAAEAAAAAAAAA"/>
              </a:ext>
            </a:extLst>
          </p:cNvSpPr>
          <p:nvPr>
            <p:ph idx="2"/>
          </p:nvPr>
        </p:nvSpPr>
        <p:spPr>
          <a:xfrm>
            <a:off x="6318885" y="2633345"/>
            <a:ext cx="5212080" cy="3566160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0613-5DDA-C4F0-9429-ABA5486762FE}" type="datetime1">
              <a:t>12/8/2025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iVb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755B-15DA-C483-9429-E3D63B6762B6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AIAADvRgAAOA4AABAAAAAmAAAACAAAAAEAAAAAAAAA"/>
              </a:ext>
            </a:extLst>
          </p:cNvSpPr>
          <p:nvPr>
            <p:ph type="title"/>
          </p:nvPr>
        </p:nvSpPr>
        <p:spPr>
          <a:xfrm>
            <a:off x="640080" y="1371600"/>
            <a:ext cx="10890885" cy="939800"/>
          </a:xfrm>
        </p:spPr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C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DgOAAAAJAAAfxIAABAAAAAmAAAACAAAAIGgAAAAAAAA"/>
              </a:ext>
            </a:extLst>
          </p:cNvSpPr>
          <p:nvPr>
            <p:ph idx="1"/>
          </p:nvPr>
        </p:nvSpPr>
        <p:spPr>
          <a:xfrm>
            <a:off x="640080" y="2311400"/>
            <a:ext cx="5212080" cy="69532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1800" b="1" cap="all" spc="60" baseline="0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g69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8SAAAAJAAAISYAABAAAAAmAAAACAAAAAEAAAAAAAAA"/>
              </a:ext>
            </a:extLst>
          </p:cNvSpPr>
          <p:nvPr>
            <p:ph idx="2"/>
          </p:nvPr>
        </p:nvSpPr>
        <p:spPr>
          <a:xfrm>
            <a:off x="640080" y="3006725"/>
            <a:ext cx="5212080" cy="3191510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C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jd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yYAADgOAADvRgAAfxIAABAAAAAmAAAACAAAAIGgAAAAAAAA"/>
              </a:ext>
            </a:extLst>
          </p:cNvSpPr>
          <p:nvPr>
            <p:ph idx="3"/>
          </p:nvPr>
        </p:nvSpPr>
        <p:spPr>
          <a:xfrm>
            <a:off x="6318885" y="2311400"/>
            <a:ext cx="5212080" cy="69532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1800" b="1" cap="all" spc="60" baseline="0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yYAAH8SAADvRgAAISYAABAAAAAmAAAACAAAAAEAAAAAAAAA"/>
              </a:ext>
            </a:extLst>
          </p:cNvSpPr>
          <p:nvPr>
            <p:ph idx="4"/>
          </p:nvPr>
        </p:nvSpPr>
        <p:spPr>
          <a:xfrm>
            <a:off x="6318885" y="3006725"/>
            <a:ext cx="5212080" cy="3191510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731E-50DA-C485-9429-A6D03D6762F3}" type="datetime1">
              <a:t/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6512-5CDA-C493-9429-AAC62B6762FF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NI+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AIAADvRgAAMA8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729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34FB-B5DA-C4C2-9429-43977A676216}" type="datetime1">
              <a:t>12/8/2025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40AD-E3DA-C4B6-9429-15E30E676240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4"/>
          <p:cNvSpPr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GciDw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GciDwB/f38AAAAA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3" name="Date Placeholder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0D7D-33DA-C4FB-9429-C5AE43676290}" type="datetime1">
              <a:t>12/8/2025</a:t>
            </a:fld>
          </a:p>
        </p:txBody>
      </p:sp>
      <p:sp>
        <p:nvSpPr>
          <p:cNvPr id="4" name="Footer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524E-00DA-C4A4-9429-F6F11C6762A3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iu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AIAACuGwAAXhEAABAAAAAmAAAACAAAAAGgAAAAAAAA"/>
              </a:ext>
            </a:extLst>
          </p:cNvSpPr>
          <p:nvPr>
            <p:ph type="title"/>
          </p:nvPr>
        </p:nvSpPr>
        <p:spPr>
          <a:xfrm>
            <a:off x="640080" y="1371600"/>
            <a:ext cx="3859530" cy="145161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en-us" sz="36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h4AAFgGAADvRgAAICYAABAAAAAmAAAACAAAAAGgAAAAAAAA"/>
              </a:ext>
            </a:extLst>
          </p:cNvSpPr>
          <p:nvPr>
            <p:ph idx="1"/>
          </p:nvPr>
        </p:nvSpPr>
        <p:spPr>
          <a:xfrm>
            <a:off x="4936490" y="1031240"/>
            <a:ext cx="6594475" cy="516636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2000" cap="none"/>
            </a:lvl6pPr>
            <a:lvl7pPr>
              <a:defRPr lang="en-us" sz="2000" cap="none"/>
            </a:lvl7pPr>
            <a:lvl8pPr>
              <a:defRPr lang="en-us" sz="2000" cap="none"/>
            </a:lvl8pPr>
            <a:lvl9pPr>
              <a:defRPr lang="en-us" sz="2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EkSAACuGwAAIiYAABAAAAAmAAAACAAAAAGAAAAAAAAA"/>
              </a:ext>
            </a:extLst>
          </p:cNvSpPr>
          <p:nvPr>
            <p:ph idx="2"/>
          </p:nvPr>
        </p:nvSpPr>
        <p:spPr>
          <a:xfrm>
            <a:off x="640080" y="2972435"/>
            <a:ext cx="3859530" cy="3226435"/>
          </a:xfrm>
        </p:spPr>
        <p:txBody>
          <a:bodyPr/>
          <a:lstStyle>
            <a:lvl1pPr marL="0" indent="0">
              <a:buNone/>
              <a:defRPr lang="en-us" sz="1600" cap="none"/>
            </a:lvl1pPr>
            <a:lvl2pPr marL="457200" indent="0">
              <a:buNone/>
              <a:defRPr lang="en-us" sz="1400" cap="none"/>
            </a:lvl2pPr>
            <a:lvl3pPr marL="914400" indent="0">
              <a:buNone/>
              <a:defRPr lang="en-us" sz="1200" cap="none"/>
            </a:lvl3pPr>
            <a:lvl4pPr marL="1371600" indent="0">
              <a:buNone/>
              <a:defRPr lang="en-us" sz="1000" cap="none"/>
            </a:lvl4pPr>
            <a:lvl5pPr marL="1828800" indent="0">
              <a:buNone/>
              <a:defRPr lang="en-us" sz="1000" cap="none"/>
            </a:lvl5pPr>
            <a:lvl6pPr marL="2286000" indent="0">
              <a:buNone/>
              <a:defRPr lang="en-us" sz="1000" cap="none"/>
            </a:lvl6pPr>
            <a:lvl7pPr marL="2743200" indent="0">
              <a:buNone/>
              <a:defRPr lang="en-us" sz="1000" cap="none"/>
            </a:lvl7pPr>
            <a:lvl8pPr marL="3200400" indent="0">
              <a:buNone/>
              <a:defRPr lang="en-us" sz="1000" cap="none"/>
            </a:lvl8pPr>
            <a:lvl9pPr marL="3657600" indent="0">
              <a:buNone/>
              <a:defRPr lang="en-us" sz="1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150A-44DA-C4E3-9429-B2B65B6762E7}" type="datetime1">
              <a:t>12/8/2025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V0AA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0125-6BDA-C4F7-9429-9DA24F6762C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729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AIAACuGwAAXhEAABAAAAAmAAAACAAAAAGgAAAAAAAA"/>
              </a:ext>
            </a:extLst>
          </p:cNvSpPr>
          <p:nvPr>
            <p:ph type="title"/>
          </p:nvPr>
        </p:nvSpPr>
        <p:spPr>
          <a:xfrm>
            <a:off x="640080" y="1371600"/>
            <a:ext cx="3859530" cy="145161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>
              <a:defRPr lang="en-us" sz="36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B4AAFsGAADuRgAAIyYAABAAAAAmAAAACAAAAAGAAAAAAAAA"/>
              </a:ext>
            </a:extLst>
          </p:cNvSpPr>
          <p:nvPr>
            <p:ph type="pic" idx="1"/>
          </p:nvPr>
        </p:nvSpPr>
        <p:spPr>
          <a:xfrm>
            <a:off x="4937760" y="1033145"/>
            <a:ext cx="6592570" cy="5166360"/>
          </a:xfrm>
        </p:spPr>
        <p:txBody>
          <a:bodyPr/>
          <a:lstStyle>
            <a:lvl1pPr marL="0" indent="0">
              <a:buNone/>
              <a:defRPr lang="en-us" sz="3200" cap="none"/>
            </a:lvl1pPr>
            <a:lvl2pPr marL="457200" indent="0">
              <a:buNone/>
              <a:defRPr lang="en-us" sz="2800" cap="none"/>
            </a:lvl2pPr>
            <a:lvl3pPr marL="914400" indent="0">
              <a:buNone/>
              <a:defRPr lang="en-us" sz="2400" cap="none"/>
            </a:lvl3pPr>
            <a:lvl4pPr marL="1371600" indent="0">
              <a:buNone/>
              <a:defRPr lang="en-us" sz="2000" cap="none"/>
            </a:lvl4pPr>
            <a:lvl5pPr marL="1828800" indent="0">
              <a:buNone/>
              <a:defRPr lang="en-us" sz="2000" cap="none"/>
            </a:lvl5pPr>
            <a:lvl6pPr marL="2286000" indent="0">
              <a:buNone/>
              <a:defRPr lang="en-us" sz="2000" cap="none"/>
            </a:lvl6pPr>
            <a:lvl7pPr marL="2743200" indent="0">
              <a:buNone/>
              <a:defRPr lang="en-us" sz="2000" cap="none"/>
            </a:lvl7pPr>
            <a:lvl8pPr marL="3200400" indent="0">
              <a:buNone/>
              <a:defRPr lang="en-us" sz="2000" cap="none"/>
            </a:lvl8pPr>
            <a:lvl9pPr marL="3657600" indent="0">
              <a:buNone/>
              <a:defRPr lang="en-us" sz="2000" cap="none"/>
            </a:lvl9pPr>
          </a:lstStyle>
          <a:p>
            <a:pPr>
              <a:defRPr lang="en-us"/>
            </a:pPr>
            <a:r>
              <a:t>Click icon to add picture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EkSAACuGwAAIiYAABAAAAAmAAAACAAAAAGAAAAAAAAA"/>
              </a:ext>
            </a:extLst>
          </p:cNvSpPr>
          <p:nvPr>
            <p:ph idx="2"/>
          </p:nvPr>
        </p:nvSpPr>
        <p:spPr>
          <a:xfrm>
            <a:off x="640080" y="2972435"/>
            <a:ext cx="3859530" cy="3226435"/>
          </a:xfrm>
        </p:spPr>
        <p:txBody>
          <a:bodyPr/>
          <a:lstStyle>
            <a:lvl1pPr marL="0" indent="0">
              <a:buNone/>
              <a:defRPr lang="en-us" sz="1600" cap="none"/>
            </a:lvl1pPr>
            <a:lvl2pPr marL="457200" indent="0">
              <a:buNone/>
              <a:defRPr lang="en-us" sz="1400" cap="none"/>
            </a:lvl2pPr>
            <a:lvl3pPr marL="914400" indent="0">
              <a:buNone/>
              <a:defRPr lang="en-us" sz="1200" cap="none"/>
            </a:lvl3pPr>
            <a:lvl4pPr marL="1371600" indent="0">
              <a:buNone/>
              <a:defRPr lang="en-us" sz="1000" cap="none"/>
            </a:lvl4pPr>
            <a:lvl5pPr marL="1828800" indent="0">
              <a:buNone/>
              <a:defRPr lang="en-us" sz="1000" cap="none"/>
            </a:lvl5pPr>
            <a:lvl6pPr marL="2286000" indent="0">
              <a:buNone/>
              <a:defRPr lang="en-us" sz="1000" cap="none"/>
            </a:lvl6pPr>
            <a:lvl7pPr marL="2743200" indent="0">
              <a:buNone/>
              <a:defRPr lang="en-us" sz="1000" cap="none"/>
            </a:lvl7pPr>
            <a:lvl8pPr marL="3200400" indent="0">
              <a:buNone/>
              <a:defRPr lang="en-us" sz="1000" cap="none"/>
            </a:lvl8pPr>
            <a:lvl9pPr marL="3657600" indent="0">
              <a:buNone/>
              <a:defRPr lang="en-us" sz="1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11F6-B8DA-C4E7-9429-4EB25F67621B}" type="datetime1">
              <a:t>12/8/2025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+K1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0F92-DCDA-C4F9-9429-2AAC4167627F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HAIAADvRgAAMA8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Q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DMQAADvRgAAIyY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7506-48DA-C483-9429-BED63B6762EB}" type="datetime1">
              <a:t>12/8/2025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7062-2CDA-C486-9429-DAD33E67628F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9"/>
          <p:cNvSpPr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GciDw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GciDwB/f38AAAAA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3" name="Vertical 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Q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zgAAPADAADMQwAAACYAABAAAAAmAAAACAAAAAMAAAAAAAAA"/>
              </a:ext>
            </a:extLst>
          </p:cNvSpPr>
          <p:nvPr>
            <p:ph type="title"/>
          </p:nvPr>
        </p:nvSpPr>
        <p:spPr>
          <a:xfrm>
            <a:off x="9209405" y="640080"/>
            <a:ext cx="1811655" cy="5537200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4" name="Vertical Text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Q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PADAACwNwAAACYAABAAAAAmAAAACAAAAAMAAAAAAAAA"/>
              </a:ext>
            </a:extLst>
          </p:cNvSpPr>
          <p:nvPr>
            <p:ph idx="1"/>
          </p:nvPr>
        </p:nvSpPr>
        <p:spPr>
          <a:xfrm>
            <a:off x="640080" y="640080"/>
            <a:ext cx="8412480" cy="5537200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AMAABonAADQF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913AF0-BEDA-C4CC-9429-48997467621D}" type="datetime1">
              <a:t>12/8/2025</a:t>
            </a:fld>
          </a:p>
        </p:txBody>
      </p:sp>
      <p:sp>
        <p:nvSpPr>
          <p:cNvPr id="6" name="Footer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ikAABonAAB8Q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EIAABonAADvRg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79118AA-E4DA-C4EE-9429-12BB56676247}" type="slidenum">
              <a:t>‹#›</a:t>
            </a:fld>
          </a:p>
        </p:txBody>
      </p:sp>
      <p:sp>
        <p:nvSpPr>
          <p:cNvPr id="8" name="Straight Connector 6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3/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OhMIgV/f38AAAAAA8zMzADAwP8Af39/AAAAAAAAAAAAAAAAAAAAAAAAAAAAIQAAABgAAAAUAAAA5EUAAFMEAADkRQAAWQoAABAAAAAmAAAACAAAAP//////////"/>
              </a:ext>
            </a:extLst>
          </p:cNvSpPr>
          <p:nvPr/>
        </p:nvSpPr>
        <p:spPr>
          <a:xfrm rot="5400000">
            <a:off x="10871835" y="1192530"/>
            <a:ext cx="9791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CL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AMAAHAIAADvRgAAMA8AABAAAAAmAAAACAAAAL8vAAAAAAAA"/>
              </a:ext>
            </a:extLst>
          </p:cNvSpPr>
          <p:nvPr>
            <p:ph type="title"/>
          </p:nvPr>
        </p:nvSpPr>
        <p:spPr>
          <a:xfrm>
            <a:off x="640080" y="1371600"/>
            <a:ext cx="10890885" cy="109728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AMAADMQAADvRgAAIyYAABAAAAAmAAAACAAAAD8vAAAAAAAA"/>
              </a:ext>
            </a:extLst>
          </p:cNvSpPr>
          <p:nvPr>
            <p:ph type="body" idx="1"/>
          </p:nvPr>
        </p:nvSpPr>
        <p:spPr>
          <a:xfrm>
            <a:off x="640080" y="2633345"/>
            <a:ext cx="10890885" cy="356616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AMAABonAADQFAAAWSkAABAAAAAmAAAACAAAAL+PAAAAAAAA"/>
              </a:ext>
            </a:extLst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900" b="1" cap="all" spc="60" baseline="0">
                <a:solidFill>
                  <a:schemeClr val="tx1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7916305-4BDA-C495-9429-BDC02D6762E8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/v7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ikAABonAAB8QgAAWSkAABAAAAAmAAAACAAAAL+PAAAAAAAA"/>
              </a:ext>
            </a:extLst>
          </p:cNvSpPr>
          <p:nvPr>
            <p:ph type="ftr" sz="quarter" idx="3"/>
          </p:nvPr>
        </p:nvSpPr>
        <p:spPr>
          <a:xfrm>
            <a:off x="6767830" y="6356350"/>
            <a:ext cx="403987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900" b="1" cap="all" spc="60" baseline="0">
                <a:solidFill>
                  <a:schemeClr val="tx1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990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fEIAABonAADvRg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10807700" y="6356350"/>
            <a:ext cx="723265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900" b="1" cap="all" spc="60" baseline="0">
                <a:solidFill>
                  <a:schemeClr val="tx1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7911F9C-D2DA-C4E9-9429-24BC51676271}" type="slidenum">
              <a:t/>
            </a:fld>
          </a:p>
        </p:txBody>
      </p:sp>
      <p:sp>
        <p:nvSpPr>
          <p:cNvPr id="7" name="Straight Connector 8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gfB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YwQAAFgGAABpCgAAWAYAABAAAAAmAAAACAAAAP//////////"/>
              </a:ext>
            </a:extLst>
          </p:cNvSpPr>
          <p:nvPr/>
        </p:nvSpPr>
        <p:spPr>
          <a:xfrm>
            <a:off x="713105" y="1031240"/>
            <a:ext cx="9791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000" b="1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9pPr>
    </p:titleStyle>
    <p:bodyStyle>
      <a:lvl1pPr marL="228600" marR="0" indent="-228600" algn="l" defTabSz="914400">
        <a:lnSpc>
          <a:spcPct val="120000"/>
        </a:lnSpc>
        <a:spcBef>
          <a:spcPts val="10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1pPr>
      <a:lvl2pPr marL="494030" marR="0" indent="-228600" algn="l" defTabSz="914400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2pPr>
      <a:lvl3pPr marL="731520" marR="0" indent="-228600" algn="l" defTabSz="914400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6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3pPr>
      <a:lvl4pPr marL="1051560" marR="0" indent="-285750" algn="l" defTabSz="914400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4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4pPr>
      <a:lvl5pPr marL="1298575" marR="0" indent="-228600" algn="l" defTabSz="914400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4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5pPr>
      <a:lvl6pPr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6pPr>
      <a:lvl7pPr marL="2971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7pPr>
      <a:lvl8pPr marL="3429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8pPr>
      <a:lvl9pPr marL="3886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Grandview Display" pitchFamily="0" charset="0"/>
          <a:ea typeface="Grandview Display" pitchFamily="0" charset="0"/>
          <a:cs typeface="Grandview Display" pitchFamily="0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diagramDrawing" Target="../diagrams/drawing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microsoft.com/office/2007/relationships/diagramDrawing" Target="../diagrams/drawing2.xml"/><Relationship Id="rId4" Type="http://schemas.openxmlformats.org/officeDocument/2006/relationships/diagramData" Target="../diagrams/data2.xml"/><Relationship Id="rId5" Type="http://schemas.openxmlformats.org/officeDocument/2006/relationships/diagramLayout" Target="../diagrams/layout2.xml"/><Relationship Id="rId6" Type="http://schemas.openxmlformats.org/officeDocument/2006/relationships/diagramQuickStyle" Target="../diagrams/quickStyle2.xml"/><Relationship Id="rId7" Type="http://schemas.openxmlformats.org/officeDocument/2006/relationships/diagramColors" Target="../diagrams/colors2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diagramDrawing" Target="../diagrams/drawing3.xml"/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diagramDrawing" Target="../diagrams/drawing4.xml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diagramDrawing" Target="../diagrams/drawing5.xml"/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diagramDrawing" Target="../diagrams/drawing6.xml"/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rankcp.github.io/ML_Team7/" TargetMode="External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8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Kw4GQB/f38AUFBG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pic>
        <p:nvPicPr>
          <p:cNvPr id="3" name="Picture 3" descr="Graph"/>
          <p:cNvPicPr>
            <a:picLocks noChangeAspect="1"/>
            <a:extLst>
              <a:ext uri="smNativeData">
                <pr:smNativeData xmlns:pr="smNativeData" xmlns="smNativeData" val="SMDATA_17_+y02aRMAAAAlAAAAEQAAAC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I4BAAAAAAAAWgIAAAAAAABkAAAAZAAAAAAAAAAjAAAABAAAAGQAAAAXAAAAFAAAAAAAAAAAAAAA/38AAP9/AAAAAAAACQAAAAQAAAAAAAAAHgAAAGgAAAAAAAAAAAAAAAAAAAAAAAAAAAAAABAnAAAQJwAAAAAAAAAAAAAAAAAAADw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OhMIgUAAAABAAAAAAAAAAAAAAAAAAAAAAAAAAAAAAAAAAAAAAAAAAD///8Cf39/AFBQRgPMzMwAwMD/AH9/fwAAAAAAAAAAAAAAAAD///8AAAAAACEAAAAYAAAAFAAAAAAAAAAAAAAAAEsAADAqAAAQAAAAJgAAAAgAAAD//////////w=="/>
              </a:ext>
            </a:extLst>
          </p:cNvPicPr>
          <p:nvPr/>
        </p:nvPicPr>
        <p:blipFill>
          <a:blip r:embed="rId2"/>
          <a:srcRect l="0" t="3980" r="0" b="60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QAAAAEAAAAAAAAAAAAAAAAAAAAAAAAAAAAAAAAAAAAAAAAAAP///wJ/f38AUFBGA8zMzADAwP8Af39/AAAAAAAAAAAAAAAAAAAAAAAAAAAAIQAAABgAAAAUAAAA8AMAABAGAABdJwAAtBoAABAAAAAmAAAACAAAAAEgAAAAAAAA"/>
              </a:ext>
            </a:extLst>
          </p:cNvSpPr>
          <p:nvPr>
            <p:ph type="ctrTitle"/>
          </p:nvPr>
        </p:nvSpPr>
        <p:spPr>
          <a:xfrm>
            <a:off x="640080" y="985520"/>
            <a:ext cx="5758815" cy="335534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rPr lang="en-us" sz="6000" cap="none">
                <a:solidFill>
                  <a:srgbClr val="FFFFFF"/>
                </a:solidFill>
              </a:rPr>
              <a:t>99 Little Orange DataSet</a:t>
            </a:r>
            <a:endParaRPr lang="en-us" sz="6000" cap="none">
              <a:solidFill>
                <a:srgbClr val="FFFFFF"/>
              </a:solidFill>
            </a:endParaRPr>
          </a:p>
        </p:txBody>
      </p:sp>
      <p:sp>
        <p:nvSpPr>
          <p:cNvPr id="5" name="Subtitle 2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QAAAAEAAAAAAAAAAAAAAAAAAAAAAAAAAAAAAAAAAAAAAAAAAP///wJ/f38AUFBGA8zMzADAwP8Af39/AAAAAAAAAAAAAAAAAAAAAAAAAAAAIQAAABgAAAAUAAAA8AMAAE4gAABAHwAAGicAABAAAAAmAAAACAAAAIEgAAAAAAAA"/>
              </a:ext>
            </a:extLst>
          </p:cNvSpPr>
          <p:nvPr>
            <p:ph type="subTitle" idx="1"/>
          </p:nvPr>
        </p:nvSpPr>
        <p:spPr>
          <a:xfrm>
            <a:off x="640080" y="5251450"/>
            <a:ext cx="4439920" cy="11049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rPr lang="en-us" cap="all">
                <a:solidFill>
                  <a:srgbClr val="FFFFFF"/>
                </a:solidFill>
              </a:rPr>
              <a:t>Which customers are more likely to Churn</a:t>
            </a:r>
            <a:endParaRPr lang="en-us" cap="all">
              <a:solidFill>
                <a:srgbClr val="FFFFFF"/>
              </a:solidFill>
            </a:endParaRPr>
          </a:p>
        </p:txBody>
      </p:sp>
      <p:sp>
        <p:nvSpPr>
          <p:cNvPr id="6" name="Straight Connector 10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OhMIgV/f38AUFBGA8zMzADAwP8Af39/AAAAAAAAAAAAAAAAAAAAAAAAAAAAIQAAABgAAAAUAAAAYwQAAHoeAABpCgAAeh4AABAAAAAmAAAACAAAAP//////////"/>
              </a:ext>
            </a:extLst>
          </p:cNvSpPr>
          <p:nvPr/>
        </p:nvSpPr>
        <p:spPr>
          <a:xfrm>
            <a:off x="713105" y="4954270"/>
            <a:ext cx="9791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  <p:extLst>
      <p:ext uri="smNativeData">
        <pr:smNativeData xmlns:pr="smNativeData" xmlns="smNativeData" val="+y02aQIAAAAFAAAA/////wEAAAAKAAAAAAAAAAAAAAAAAAAAAAAAAAgAAAAAAAAAAQAAAAoAAAAAAAAAAAAAAAAAAAAAAAAA"/>
      </p:ext>
    </p:ext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f///wEAAAAAAAAAAAAAAAAAAAAAAAAAAAAAAAAAAAAAAAAAAAAAAAJ/f38A7uzhA8zMzADAwP8Af39/AAAAAAAAAAAAAAAAAAAAAAAAAAAAIQAAABgAAAAUAAAA8AMAAHAIAADvRgAAMA8AABAAAAAmAAAACAAAAAAgAAAAAAAA"/>
              </a:ext>
            </a:extLst>
          </p:cNvSpPr>
          <p:nvPr>
            <p:ph type="title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defRPr lang="en-us"/>
            </a:pPr>
            <a:r>
              <a:rPr lang="en-us" sz="3400" cap="none"/>
              <a:t>Business Overview</a:t>
            </a:r>
            <a:endParaRPr lang="en-us" sz="3400" cap="none"/>
          </a:p>
        </p:txBody>
      </p:sp>
      <p:graphicFrame>
        <p:nvGraphicFramePr>
          <p:cNvPr id="3" name="Content Placeholder 2"/>
          <p:cNvGraphicFramePr>
            <a:graphicFrameLocks noGrp="1" noChangeArrowheads="1"/>
          </p:cNvGraphicFramePr>
          <p:nvPr>
            <p:ph type="body" idx="1"/>
          </p:nvPr>
        </p:nvGraphicFramePr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3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I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YwQAAFgGAABpCgAAWAYAABAAAAAmAAAACAAAAP//////////"/>
              </a:ext>
            </a:extLst>
          </p:cNvSpPr>
          <p:nvPr/>
        </p:nvSpPr>
        <p:spPr>
          <a:xfrm>
            <a:off x="713105" y="1031240"/>
            <a:ext cx="9791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  <p:sp useBgFill="1">
        <p:nvSpPr>
          <p:cNvPr id="3" name="Rectangle 15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Kw4GQB/f38A7uzh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4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f///wEAAAAAAAAAAAAAAAAAAAAAAAAAAAAAAAAAAAAAAAAAAAAAAAJ/f38A7uzhA8zMzADAwP8Af39/AAAAAAAAAAAAAAAAAAAAAAAAAAAAIQAAABgAAAAUAAAAuSwAAKAFAADaSAAAYAwAABAAAAAmAAAACAAAAD0gAAAAAAAA"/>
              </a:ext>
            </a:extLst>
          </p:cNvSpPr>
          <p:nvPr>
            <p:ph type="title"/>
          </p:nvPr>
        </p:nvSpPr>
        <p:spPr>
          <a:xfrm>
            <a:off x="7270115" y="914400"/>
            <a:ext cx="4572635" cy="10972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 lang="en-us" sz="3600" cap="none"/>
            </a:pPr>
            <a:r>
              <a:rPr lang="en-us" sz="3240" cap="none"/>
              <a:t>Our Clustering Findings (For Last Time)</a:t>
            </a:r>
            <a:endParaRPr lang="en-us" sz="3240" cap="none"/>
          </a:p>
        </p:txBody>
      </p:sp>
      <p:pic>
        <p:nvPicPr>
          <p:cNvPr id="5" name="Content Placeholder 8" descr="A diagram of a customer loyalty profile&#10;&#10;AI-generated content may be incorrect."/>
          <p:cNvPicPr>
            <a:picLocks noGrp="1" noChangeArrowheads="1" noChangeAspect="1"/>
            <a:extLst>
              <a:ext uri="smNativeData">
                <pr:smNativeData xmlns:pr="smNativeData" xmlns="smNativeData" val="SMDATA_17_+y02aRMAAAAlAAAAEQAAAC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DcBAAAAAAAAAAAAAAAAAABkAAAAZAAAAAAAAAAjAAAABAAAAGQAAAAXAAAAFAAAAAAAAAAAAAAA/38AAP9/AAAAAAAACQAAAAQAAAAiTOj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OhMIgX///8BAAAAAAAAAAAAAAAAAAAAAAAAAAAAAAAAAAAAAAAAAAAAAAACf39/AO7s4QPMzMwAwMD/AH9/fwAAAAAAAAAAAAAAAAD///8AAAAAACEAAAAYAAAAFAAAAAAAAACgBQAA9CgAAI8mAAAQAAAAJgAAAAgAAAABgQAAAAAAAA=="/>
              </a:ext>
            </a:extLst>
          </p:cNvPicPr>
          <p:nvPr>
            <p:ph type="pic" idx="4"/>
          </p:nvPr>
        </p:nvPicPr>
        <p:blipFill>
          <a:blip r:embed="rId2"/>
          <a:srcRect l="0" t="3110" r="0" b="0"/>
          <a:stretch>
            <a:fillRect/>
          </a:stretch>
        </p:blipFill>
        <p:spPr>
          <a:xfrm>
            <a:off x="0" y="914400"/>
            <a:ext cx="6657340" cy="5353685"/>
          </a:xfrm>
          <a:prstGeom prst="rect">
            <a:avLst/>
          </a:prstGeom>
        </p:spPr>
      </p:pic>
      <p:sp>
        <p:nvSpPr>
          <p:cNvPr id="6" name="Straight Connector 17"/>
          <p:cNvSpPr>
            <a:extLst>
              <a:ext uri="smNativeData">
                <pr:smNativeData xmlns:pr="smNativeData" xmlns="smNativeData" val="SMDATA_15_+y02aRMAAAAlAAAACgAAAA0AAAAAkAAAAEgAAACQAAAASAAAAAAAAAAAAAAAAg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AF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AAAAAI8mAADzKAAAjyYAABAAAAAmAAAACAAAAP//////////"/>
              </a:ext>
            </a:extLst>
          </p:cNvSpPr>
          <p:nvPr/>
        </p:nvSpPr>
        <p:spPr>
          <a:xfrm flipV="1">
            <a:off x="0" y="6268085"/>
            <a:ext cx="6656705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  <p:graphicFrame>
        <p:nvGraphicFramePr>
          <p:cNvPr id="7" name="Content Placeholder 2"/>
          <p:cNvGraphicFramePr>
            <a:graphicFrameLocks noGrp="1" noChangeArrowheads="1"/>
          </p:cNvGraphicFramePr>
          <p:nvPr>
            <p:ph type="body" idx="2"/>
          </p:nvPr>
        </p:nvGraphicFramePr>
        <p:xfrm>
          <a:off x="7270115" y="2176145"/>
          <a:ext cx="4260850" cy="4121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8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Kw4GQB/f38A7uzh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f///wEAAAAAAAAAAAAAAAAAAAAAAAAAAAAAAAAAAAAAAAAAAAAAAAJ/f38A7uzhA8zMzADAwP8Af39/AAAAAAAAAAAAAAAAAAAAAAAAAAAAIQAAABgAAAAUAAAAIwQAAKAFAAC/GgAANB8AABAAAAAmAAAACAAAAAEgAAAAAAAA"/>
              </a:ext>
            </a:extLst>
          </p:cNvSpPr>
          <p:nvPr>
            <p:ph type="title"/>
          </p:nvPr>
        </p:nvSpPr>
        <p:spPr>
          <a:xfrm>
            <a:off x="672465" y="914400"/>
            <a:ext cx="3675380" cy="415798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Key Parameters That Drive The Dashboard</a:t>
            </a:r>
          </a:p>
        </p:txBody>
      </p:sp>
      <p:sp>
        <p:nvSpPr>
          <p:cNvPr id="4" name="Straight Connector 10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4D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IwQAAJYmAADdRgAAliYAABAAAAAmAAAACAAAAP//////////"/>
              </a:ext>
            </a:extLst>
          </p:cNvSpPr>
          <p:nvPr/>
        </p:nvSpPr>
        <p:spPr>
          <a:xfrm>
            <a:off x="672465" y="6272530"/>
            <a:ext cx="108470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  <p:graphicFrame>
        <p:nvGraphicFramePr>
          <p:cNvPr id="5" name="Content Placeholder 2"/>
          <p:cNvGraphicFramePr>
            <a:graphicFrameLocks noGrp="1" noChangeArrowheads="1"/>
          </p:cNvGraphicFramePr>
          <p:nvPr>
            <p:ph type="body" idx="1"/>
          </p:nvPr>
        </p:nvGraphicFramePr>
        <p:xfrm>
          <a:off x="5432425" y="914400"/>
          <a:ext cx="53752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8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Kw4GQB/f38A7uzh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f///wEAAAAAAAAAAAAAAAAAAAAAAAAAAAAAAAAAAAAAAAAAAAAAAAJ/f38A7uzhA8zMzADAwP8Af39/AAAAAAAAAAAAAAAAAAAAAAAAAAAAIQAAABgAAAAUAAAAoAUAAHAIAABbRQAAcw8AABAAAAAmAAAACAAAAAEgAAAAAAAA"/>
              </a:ext>
            </a:extLst>
          </p:cNvSpPr>
          <p:nvPr>
            <p:ph type="title"/>
          </p:nvPr>
        </p:nvSpPr>
        <p:spPr>
          <a:xfrm>
            <a:off x="914400" y="1371600"/>
            <a:ext cx="10360025" cy="113982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Our Visualization Core Concepts</a:t>
            </a:r>
          </a:p>
        </p:txBody>
      </p:sp>
      <p:sp>
        <p:nvSpPr>
          <p:cNvPr id="4" name="Straight Connector 10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4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GgYAAFIGAADmRAAAUgYAABAAAAAmAAAACAAAAP//////////"/>
              </a:ext>
            </a:extLst>
          </p:cNvSpPr>
          <p:nvPr/>
        </p:nvSpPr>
        <p:spPr>
          <a:xfrm>
            <a:off x="991870" y="1027430"/>
            <a:ext cx="1020826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  <p:graphicFrame>
        <p:nvGraphicFramePr>
          <p:cNvPr id="5" name="Content Placeholder 3"/>
          <p:cNvGraphicFramePr>
            <a:graphicFrameLocks noGrp="1" noChangeArrowheads="1"/>
          </p:cNvGraphicFramePr>
          <p:nvPr>
            <p:ph type="body" idx="1"/>
          </p:nvPr>
        </p:nvGraphicFramePr>
        <p:xfrm>
          <a:off x="914400" y="2607310"/>
          <a:ext cx="10363200" cy="3690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VQdC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f///wEAAAAAAAAAAAAAAAAAAAAAAAAAAAAAAAAAAAAAAAAAAAAAAAJ/f38A7uzhA8zMzADAwP8Af39/AAAAAAAAAAAAAAAAAAAAAAAAAAAAIQAAABgAAAAUAAAA8AMAAHAIAADvRgAAMA8AABAAAAAmAAAACAAAAAAgAAAAAAAA"/>
              </a:ext>
            </a:extLst>
          </p:cNvSpPr>
          <p:nvPr>
            <p:ph type="title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The Implementation Steps</a:t>
            </a:r>
          </a:p>
        </p:txBody>
      </p:sp>
      <p:graphicFrame>
        <p:nvGraphicFramePr>
          <p:cNvPr id="3" name="Content Placeholder 2"/>
          <p:cNvGraphicFramePr>
            <a:graphicFrameLocks noGrp="1" noChangeArrowheads="1"/>
          </p:cNvGraphicFramePr>
          <p:nvPr>
            <p:ph type="body" idx="1"/>
          </p:nvPr>
        </p:nvGraphicFramePr>
        <p:xfrm>
          <a:off x="640080" y="2559050"/>
          <a:ext cx="10890885" cy="373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26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Kw4GQB/f38A7uzh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f///wEAAAAAAAAAAAAAAAAAAAAAAAAAAAAAAAAAAAAAAAAAAAAAAAJ/f38A7uzhA8zMzADAwP8Af39/AAAAAAAAAAAAAAAAAAAAAAAAAAAAIQAAABgAAAAUAAAAkAUAAFoGAABLRQAAXQ0AABAAAAAmAAAACAAAAAEgAAAAAAAA"/>
              </a:ext>
            </a:extLst>
          </p:cNvSpPr>
          <p:nvPr>
            <p:ph type="title"/>
          </p:nvPr>
        </p:nvSpPr>
        <p:spPr>
          <a:xfrm>
            <a:off x="904240" y="1032510"/>
            <a:ext cx="10360025" cy="113982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defRPr lang="en-us"/>
            </a:pPr>
            <a:r>
              <a:rPr lang="en-us" sz="3700" cap="none"/>
              <a:t>How Marimo Powers Our Interactive Dashboard</a:t>
            </a:r>
            <a:br/>
            <a:endParaRPr lang="en-us" sz="3700" cap="none"/>
          </a:p>
        </p:txBody>
      </p:sp>
      <p:sp>
        <p:nvSpPr>
          <p:cNvPr id="4" name="Straight Connector 28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GgYAAFIGAADmRAAAUgYAABAAAAAmAAAACAAAAP//////////"/>
              </a:ext>
            </a:extLst>
          </p:cNvSpPr>
          <p:nvPr/>
        </p:nvSpPr>
        <p:spPr>
          <a:xfrm>
            <a:off x="991870" y="1027430"/>
            <a:ext cx="1020826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  <p:graphicFrame>
        <p:nvGraphicFramePr>
          <p:cNvPr id="5" name="Content Placeholder 2"/>
          <p:cNvGraphicFramePr>
            <a:graphicFrameLocks noGrp="1" noChangeArrowheads="1"/>
          </p:cNvGraphicFramePr>
          <p:nvPr>
            <p:ph type="body" idx="1"/>
          </p:nvPr>
        </p:nvGraphicFramePr>
        <p:xfrm>
          <a:off x="914400" y="2054860"/>
          <a:ext cx="10363200" cy="4803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20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dBSk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YwQAAFgGAABpCgAAWAYAABAAAAAmAAAACAAAAP//////////"/>
              </a:ext>
            </a:extLst>
          </p:cNvSpPr>
          <p:nvPr/>
        </p:nvSpPr>
        <p:spPr>
          <a:xfrm>
            <a:off x="713105" y="1031240"/>
            <a:ext cx="9791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  <p:sp useBgFill="1">
        <p:nvSpPr>
          <p:cNvPr id="3" name="Rectangle 22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Kw4GQB/f38A7uzh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4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C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f///wEAAAAAAAAAAAAAAAAAAAAAAAAAAAAAAAAAAAAAAAAAAAAAAAJ/f38A7uzhA8zMzADAwP8Af39/AAAAAAAAAAAAAAAAAAAAAAAAAAAAIQAAABgAAAAUAAAA+QsAAK8HAAAHPwAAlBUAABAAAAAmAAAACAAAAL0gAAAAAAAA"/>
              </a:ext>
            </a:extLst>
          </p:cNvSpPr>
          <p:nvPr>
            <p:ph type="title"/>
          </p:nvPr>
        </p:nvSpPr>
        <p:spPr>
          <a:xfrm>
            <a:off x="1946275" y="1249045"/>
            <a:ext cx="8299450" cy="22586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 algn="ctr">
              <a:defRPr lang="en-us"/>
            </a:pPr>
            <a:r>
              <a:rPr lang="en-us" sz="6600" cap="none">
                <a:hlinkClick r:id="rId2"/>
              </a:rPr>
              <a:t>So, Let’s see the dasboard</a:t>
            </a:r>
            <a:endParaRPr lang="en-us" sz="6600" cap="none"/>
          </a:p>
        </p:txBody>
      </p:sp>
      <p:sp>
        <p:nvSpPr>
          <p:cNvPr id="5" name="Straight Connector 24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a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QCMAAGUaAADAJwAAZRoAABAAAAAmAAAACAAAAP//////////"/>
              </a:ext>
            </a:extLst>
          </p:cNvSpPr>
          <p:nvPr/>
        </p:nvSpPr>
        <p:spPr>
          <a:xfrm>
            <a:off x="5730240" y="4290695"/>
            <a:ext cx="731520" cy="0"/>
          </a:xfrm>
          <a:prstGeom prst="line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  <p:extLst>
      <p:ext uri="smNativeData">
        <pr:smNativeData xmlns:pr="smNativeData" xmlns="smNativeData" val="+y02aQEAAAAFAAAA/////wEAAAAKAAAAAAAAAAAAAAAAAAAAAAAAAA=="/>
      </p:ext>
    </p:ext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8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OhMIgV/f38AUFBGA8zMzADAwP8Af39/AAAAAAAAAAAAAAAAAAAAAAAAAAAAIQAAABgAAAAUAAAAYwQAAFgGAABpCgAAWAYAABAAAAAmAAAACAAAAP//////////"/>
              </a:ext>
            </a:extLst>
          </p:cNvSpPr>
          <p:nvPr/>
        </p:nvSpPr>
        <p:spPr>
          <a:xfrm>
            <a:off x="713105" y="1031240"/>
            <a:ext cx="9791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  <p:sp useBgFill="1">
        <p:nvSpPr>
          <p:cNvPr id="3" name="Rectangle 10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Kw4GQB/f38AUFBG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pic>
        <p:nvPicPr>
          <p:cNvPr id="4" name="Picture 4" descr="Yellow question mark"/>
          <p:cNvPicPr>
            <a:picLocks noChangeAspect="1"/>
            <a:extLst>
              <a:ext uri="smNativeData">
                <pr:smNativeData xmlns:pr="smNativeData" xmlns="smNativeData" val="SMDATA_17_+y02aRMAAAAlAAAAEQAAAC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cQIAAAAAAABkAAAAZAAAAAAAAAAjAAAABAAAAGQAAAAXAAAAFAAAAAAAAAAAAAAA/38AAP9/AAAAAAAACQAAAAQAAACgB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OhMIgUAAAABAAAAAAAAAAAAAAAAAAAAAAAAAAAAAAAAAAAAAAAAAAD///8Cf39/AFBQRgPMzMwAwMD/AH9/fwAAAAAAAAAAAAAAAAD///8AAAAAACEAAAAYAAAAFAAAAAAAAAAAAAAAAEsAADAqAAAQAAAAJgAAAAgAAAD//////////w=="/>
              </a:ext>
            </a:extLst>
          </p:cNvPicPr>
          <p:nvPr/>
        </p:nvPicPr>
        <p:blipFill>
          <a:blip r:embed="rId2"/>
          <a:srcRect l="0" t="0" r="0" b="62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12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DAAAAAAAAAAAAAABkAAAAJQAAAAAAAAAAAAAAAAAAAAAAAAAAAAAAZAAAAAEAAABAAAAAnP///wAAAAC0AAAAAAAAAAIAAAA5AAAAAAAAAFw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EAAAAAAAAAAAAAAAAAAAAAAAAAECcAABAnAAAAAAAAAAAAAAAAAAAAAGQkLSQ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AAAAAAAAAAAAAAAAAAAAAAAAAAAAAAAAAAAAAAAAAAAAAAAAKw4GQB/f38AUFBGA8zMzADAwP8Af39/AAAAAAAAAAAAAAAAAAAAAAAAAAAAIQAAABgAAAAUAAAA/////wAAAACONAAAMCoAABAAAAAmAAAACAAAAP//////////"/>
              </a:ext>
            </a:extLst>
          </p:cNvSpPr>
          <p:nvPr/>
        </p:nvSpPr>
        <p:spPr>
          <a:xfrm>
            <a:off x="-635" y="0"/>
            <a:ext cx="854392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7000">
                <a:srgbClr val="000000">
                  <a:alpha val="55000"/>
                </a:srgbClr>
              </a:gs>
              <a:gs pos="92000">
                <a:srgbClr val="000000">
                  <a:alpha val="64000"/>
                </a:srgbClr>
              </a:gs>
              <a:gs pos="100000">
                <a:srgbClr val="000000">
                  <a:alpha val="64000"/>
                </a:srgbClr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6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QAAAAEAAAAAAAAAAAAAAAAAAAAAAAAAAAAAAAAAAAAAAAAAAP///wJ/f38AUFBGA8zMzADAwP8Af39/AAAAAAAAAAAAAAAAAAAAAAAAAAAAIQAAABgAAAAUAAAA8AMAAKAFAAAJIgAAthoAABAAAAAmAAAACAAAAD0gAAAAAAAA"/>
              </a:ext>
            </a:extLst>
          </p:cNvSpPr>
          <p:nvPr>
            <p:ph type="title"/>
          </p:nvPr>
        </p:nvSpPr>
        <p:spPr>
          <a:xfrm>
            <a:off x="640080" y="914400"/>
            <a:ext cx="4892675" cy="34277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rPr lang="en-us" sz="5400" cap="none">
                <a:solidFill>
                  <a:srgbClr val="FFFFFF"/>
                </a:solidFill>
              </a:rPr>
              <a:t>Any Questions</a:t>
            </a:r>
            <a:endParaRPr lang="en-us" sz="5400" cap="none">
              <a:solidFill>
                <a:srgbClr val="FFFFFF"/>
              </a:solidFill>
            </a:endParaRPr>
          </a:p>
        </p:txBody>
      </p:sp>
      <p:sp>
        <p:nvSpPr>
          <p:cNvPr id="7" name="Straight Connector 14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OhMIgV/f38AUFBGA8zMzADAwP8Af39/AAAAAAAAAAAAAAAAAAAAAAAAAAAAIQAAABgAAAAUAAAAcwQAAOcdAAB4CgAA5x0AABAAAAAmAAAACAAAAP//////////"/>
              </a:ext>
            </a:extLst>
          </p:cNvSpPr>
          <p:nvPr/>
        </p:nvSpPr>
        <p:spPr>
          <a:xfrm>
            <a:off x="723265" y="4860925"/>
            <a:ext cx="978535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8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4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YwQAAFgGAABpCgAAWAYAABAAAAAmAAAACAAAAP//////////"/>
              </a:ext>
            </a:extLst>
          </p:cNvSpPr>
          <p:nvPr/>
        </p:nvSpPr>
        <p:spPr>
          <a:xfrm>
            <a:off x="713105" y="1031240"/>
            <a:ext cx="979170" cy="0"/>
          </a:xfrm>
          <a:prstGeom prst="lin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  <p:sp useBgFill="1">
        <p:nvSpPr>
          <p:cNvPr id="3" name="Rectangle 10"/>
          <p:cNvSpPr>
            <a:extLst>
              <a:ext uri="smNativeData">
                <pr:smNativeData xmlns:pr="smNativeData" xmlns="smNativeData" val="SMDATA_15_+y02aRMAAAAlAAAAZAAAAC0AAAAAkAAAAEgAAACQAAAASAAAAAAAAAABAAAAAAAAAAEAAABQAAAAAAAAAAAA4D8AAAAAAADgPwAAAAAAAOA/AAAAAAAA4D8AAAAAAADgPwAAAAAAAOA/AAAAAAAA4D8AAAAAAADgPwAAAAAAAOA/AAAAAAAA4D8CAAAAjAAAAAEAAAAJAAAA////AP///wgAAAAAAAAAAAAAAAAAAAAAAAAAAAAAAAAAAAAAeAAAAAEAAABAAAAAAAAAAAAAAABaAAAAAAAAAAAAAAAAAAAAAAAAAAAAAAAAAAAAAAAAAAAAAAAAAAAAAAAAAAAAAAAAAAAAAAAAAAAAAAAAAAAAAAAAAAAAAAAAAAAAFAAAADwAAAAAAAAAAAAAAKw4GQA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Kw4GQB/f38A7uzh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Grandview Display" pitchFamily="0" charset="0"/>
                <a:ea typeface="Grandview Display" pitchFamily="0" charset="0"/>
                <a:cs typeface="Grandview Display" pitchFamily="0" charset="0"/>
              </a:defRPr>
            </a:pPr>
          </a:p>
        </p:txBody>
      </p:sp>
      <p:sp>
        <p:nvSpPr>
          <p:cNvPr id="4" name="Title 1"/>
          <p:cNvSpPr>
            <a:spLocks noGrp="1" noChangeArrowheads="1"/>
            <a:extLst>
              <a:ext uri="smNativeData">
                <pr:smNativeData xmlns:pr="smNativeData" xmlns="smNativeData" val="SMDATA_15_+y02aRMAAAAlAAAAZAAAAA0AAAAAkAAAAEgAAACQAAAASAAAAAAAAAAC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EwiBf///wEAAAAAAAAAAAAAAAAAAAAAAAAAAAAAAAAAAAAAAAAAAAAAAAJ/f38A7uzhA8zMzADAwP8Af39/AAAAAAAAAAAAAAAAAAAAAAAAAAAAIQAAABgAAAAUAAAA4A8AAIYbAAAgOwAARSEAABAAAAAmAAAACAAAAL0gAAAAAAAA"/>
              </a:ext>
            </a:extLst>
          </p:cNvSpPr>
          <p:nvPr>
            <p:ph type="title"/>
          </p:nvPr>
        </p:nvSpPr>
        <p:spPr>
          <a:xfrm>
            <a:off x="2580640" y="4474210"/>
            <a:ext cx="7030720" cy="93408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 algn="ctr">
              <a:defRPr lang="en-us"/>
            </a:pPr>
            <a:r>
              <a:rPr lang="en-us" sz="4400" cap="none"/>
              <a:t>Thank you</a:t>
            </a:r>
            <a:endParaRPr lang="en-us" sz="4400" cap="none"/>
          </a:p>
        </p:txBody>
      </p:sp>
      <p:pic>
        <p:nvPicPr>
          <p:cNvPr id="5" name="Graphic 5" descr="Smiling Face with No Fill"/>
          <p:cNvPicPr>
            <a:picLocks noChangeAspect="1"/>
            <a:extLst>
              <a:ext uri="smNativeData">
                <pr:smNativeData xmlns:pr="smNativeData" xmlns="smNativeData" val="SMDATA_17_+y02aRMAAAAlAAAAEQAAAC0AAAAAkAAAAEgAAACQAAAASAAAAAAAAAAAAAAAAAAAAAEAAABQAAAAAAAAAAAA4D8AAAAAAADgPwAAAAAAAOA/AAAAAAAA4D8AAAAAAADgPwAAAAAAAOA/AAAAAAAA4D8AAAAAAADgPwAAAAAAAOA/AAAAAAAA4D8CAAAAjAAAAAAAAAAAAAAA6Ewi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Ce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OhMIgX///8BAAAAAAAAAAAAAAAAAAAAAAAAAAAAAAAAAAAAAAAAAAAAAAACf39/AO7s4QPMzMwAwMD/AH9/fwAAAAAAAAAAAAAAAAD///8AAAAAACEAAAAYAAAAFAAAAIEZAACFAgAAfzEAAIIaAAAQAAAAJgAAAAgAAAD//////////w==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5915" y="409575"/>
            <a:ext cx="3900170" cy="38995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Straight Connector 12"/>
          <p:cNvSpPr>
            <a:extLst>
              <a:ext uri="smNativeData">
                <pr:smNativeData xmlns:pr="smNativeData" xmlns="smNativeData" val="SMDATA_15_+y02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OhMIgxa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OhMIgV/f38A7uzhA8zMzADAwP8Af39/AAAAAAAAAAAAAAAAAAAAAAAAAAAAIQAAABgAAAAUAAAA0CMAANUiAAAwJwAA1SIAABAAAAAmAAAACAAAAP//////////"/>
              </a:ext>
            </a:extLst>
          </p:cNvSpPr>
          <p:nvPr/>
        </p:nvSpPr>
        <p:spPr>
          <a:xfrm>
            <a:off x="5821680" y="5662295"/>
            <a:ext cx="548640" cy="0"/>
          </a:xfrm>
          <a:prstGeom prst="line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Presentation">
      <a:majorFont>
        <a:latin typeface="Grandview Display"/>
        <a:ea typeface="Grandview Display"/>
        <a:cs typeface="Grandview Display"/>
      </a:majorFont>
      <a:minorFont>
        <a:latin typeface="Grandview Display"/>
        <a:ea typeface="Grandview Display"/>
        <a:cs typeface="Grandview Display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505046"/>
        </a:dk2>
        <a:lt2>
          <a:srgbClr val="EEECE1"/>
        </a:lt2>
        <a:accent1>
          <a:srgbClr val="E84C22"/>
        </a:accent1>
        <a:accent2>
          <a:srgbClr val="FFBD47"/>
        </a:accent2>
        <a:accent3>
          <a:srgbClr val="B64926"/>
        </a:accent3>
        <a:accent4>
          <a:srgbClr val="FF8427"/>
        </a:accent4>
        <a:accent5>
          <a:srgbClr val="CC9900"/>
        </a:accent5>
        <a:accent6>
          <a:srgbClr val="B22600"/>
        </a:accent6>
        <a:hlink>
          <a:srgbClr val="CC99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نبيل ابراهيم محمد محمود عطا</dc:creator>
  <cp:keywords/>
  <dc:description/>
  <cp:lastModifiedBy>ASUS</cp:lastModifiedBy>
  <cp:revision>0</cp:revision>
  <dcterms:created xsi:type="dcterms:W3CDTF">2025-11-22T06:45:50Z</dcterms:created>
  <dcterms:modified xsi:type="dcterms:W3CDTF">2025-12-08T01:46:35Z</dcterms:modified>
</cp:coreProperties>
</file>